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9" r:id="rId9"/>
    <p:sldId id="272" r:id="rId10"/>
    <p:sldId id="273" r:id="rId11"/>
    <p:sldId id="274" r:id="rId12"/>
    <p:sldId id="275" r:id="rId13"/>
    <p:sldId id="271" r:id="rId14"/>
    <p:sldId id="270" r:id="rId15"/>
    <p:sldId id="263" r:id="rId16"/>
    <p:sldId id="265" r:id="rId17"/>
    <p:sldId id="266" r:id="rId18"/>
    <p:sldId id="268" r:id="rId19"/>
    <p:sldId id="276" r:id="rId20"/>
    <p:sldId id="267" r:id="rId21"/>
    <p:sldId id="277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DM Sans" panose="02020500000000000000" charset="0"/>
      <p:regular r:id="rId28"/>
      <p:bold r:id="rId29"/>
      <p:italic r:id="rId30"/>
      <p:boldItalic r:id="rId31"/>
    </p:embeddedFont>
    <p:embeddedFont>
      <p:font typeface="Inter" panose="02020500000000000000" charset="0"/>
      <p:regular r:id="rId32"/>
      <p:bold r:id="rId33"/>
      <p:italic r:id="rId34"/>
      <p:boldItalic r:id="rId35"/>
    </p:embeddedFont>
    <p:embeddedFont>
      <p:font typeface="Inter Medium" panose="02020500000000000000" charset="0"/>
      <p:regular r:id="rId36"/>
      <p:bold r:id="rId37"/>
      <p:italic r:id="rId38"/>
      <p:boldItalic r:id="rId39"/>
    </p:embeddedFont>
    <p:embeddedFont>
      <p:font typeface="Urbanist" panose="02020500000000000000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FD8F25-A576-49CD-8403-C089483F2927}">
  <a:tblStyle styleId="{80FD8F25-A576-49CD-8403-C089483F292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5" d="100"/>
          <a:sy n="85" d="100"/>
        </p:scale>
        <p:origin x="428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206aa699b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206aa699b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085498" y="2669827"/>
            <a:ext cx="8021002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digiRunner AI Marketplace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276475" y="3593752"/>
            <a:ext cx="7639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企業 AI 規模化的最後一哩路：從模型驅動到</a:t>
            </a: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代理的全面升級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86025"/>
            <a:ext cx="528637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86025"/>
            <a:ext cx="528637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962025" y="287655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AI GW 1.0 (以模型為中心)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962025" y="348615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過去的 AI 僅具備單一應用場景，主要為對話與簡單的文字生成。Gateway 僅作為通道，負責 API 轉發與 Token 計費，缺乏深度介入企業核心業務的能力與場景。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6724650" y="2876550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AI GW 2.0 (以</a:t>
            </a:r>
            <a:r>
              <a:rPr lang="en-US" sz="240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AI</a:t>
            </a:r>
            <a:r>
              <a:rPr lang="en-US" sz="2400" b="0" i="0" u="none" strike="noStrike" cap="non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代理為中心)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6724650" y="348615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發展出自主任務規劃與執行的能力。透過 MCP 協議標準化了 AI 與企業內部數據 (ERP, 內部系統) 的安全對接。Gateway 轉變為控管資源與賦能的「控制塔台」。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lang="en-US" sz="315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Gateway</a:t>
            </a: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的轉移：從 1.0 到 2.0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8337"/>
            <a:ext cx="3492549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38337"/>
            <a:ext cx="3492549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38337"/>
            <a:ext cx="3492549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914400" y="3081337"/>
            <a:ext cx="238029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影子 AI 與資源浪費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914400" y="3776648"/>
            <a:ext cx="28068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員工私下部署未經審核的 AI 工具 (Shadow AI)。管理者無法全局知曉哪些工具已被開發，造成資源重複投資、預算超支以及嚴重的資安死角。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4692699" y="3081337"/>
            <a:ext cx="252031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數據洩露與權限失控</a:t>
            </a:r>
            <a:endParaRPr dirty="0"/>
          </a:p>
        </p:txBody>
      </p:sp>
      <p:sp>
        <p:nvSpPr>
          <p:cNvPr id="80" name="Google Shape;80;p15"/>
          <p:cNvSpPr txBox="1"/>
          <p:nvPr/>
        </p:nvSpPr>
        <p:spPr>
          <a:xfrm>
            <a:off x="4692700" y="3776648"/>
            <a:ext cx="28068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強大的 AI 工具若直接具備「寫入內部資料庫」或「讀取敏感文件」的能力，一旦缺乏統一授權與審核機制，將面臨極高的合規風險與災難性後果。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8470999" y="3081337"/>
            <a:ext cx="252031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跨部門技術門檻過高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8471000" y="3776648"/>
            <a:ext cx="28068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業務單位（如人資、財務、行銷）不知如何運用龐雜的現成 API 工具，缺乏對非技術人員友善的介面，導致 AI 投資難以轉化為實際生產力。</a:t>
            </a:r>
            <a:endParaRPr/>
          </a:p>
        </p:txBody>
      </p:sp>
      <p:pic>
        <p:nvPicPr>
          <p:cNvPr id="83" name="Google Shape;8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3288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328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0999" y="23288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高階管理者面臨的</a:t>
            </a:r>
            <a:r>
              <a:rPr lang="en-US" sz="31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AI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部署挑戰</a:t>
            </a:r>
            <a:endParaRPr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8CA0CB-EB48-4B75-B9DC-2FAA71EBBF01}"/>
              </a:ext>
            </a:extLst>
          </p:cNvPr>
          <p:cNvSpPr/>
          <p:nvPr/>
        </p:nvSpPr>
        <p:spPr>
          <a:xfrm>
            <a:off x="2223541" y="1495425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zh-TW" altLang="en-US" dirty="0"/>
            </a:br>
            <a:endParaRPr lang="zh-TW" altLang="en-US" dirty="0"/>
          </a:p>
        </p:txBody>
      </p:sp>
      <p:pic>
        <p:nvPicPr>
          <p:cNvPr id="20" name="Google Shape;117;p15" descr="image.png">
            <a:extLst>
              <a:ext uri="{FF2B5EF4-FFF2-40B4-BE49-F238E27FC236}">
                <a16:creationId xmlns:a16="http://schemas.microsoft.com/office/drawing/2014/main" id="{25C5DD97-9302-45F5-B955-226898A5034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399" y="235142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18;p15" descr="image.png">
            <a:extLst>
              <a:ext uri="{FF2B5EF4-FFF2-40B4-BE49-F238E27FC236}">
                <a16:creationId xmlns:a16="http://schemas.microsoft.com/office/drawing/2014/main" id="{D48D135E-CF67-496C-B04C-4ED1D87AD29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92699" y="235142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19;p15" descr="image.png">
            <a:extLst>
              <a:ext uri="{FF2B5EF4-FFF2-40B4-BE49-F238E27FC236}">
                <a16:creationId xmlns:a16="http://schemas.microsoft.com/office/drawing/2014/main" id="{C14F7C67-937D-462A-9688-B3054159222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70999" y="2350797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571500" y="762000"/>
            <a:ext cx="932950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解決方案：Marketplace商城化管理</a:t>
            </a:r>
            <a:endParaRPr dirty="0"/>
          </a:p>
        </p:txBody>
      </p:sp>
      <p:sp>
        <p:nvSpPr>
          <p:cNvPr id="94" name="Google Shape;94;p16"/>
          <p:cNvSpPr txBox="1"/>
          <p:nvPr/>
        </p:nvSpPr>
        <p:spPr>
          <a:xfrm>
            <a:off x="1273760" y="2096162"/>
            <a:ext cx="6692494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將複雜的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API 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技術轉為直覺的「服務貨架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(Marketplace)」。</a:t>
            </a:r>
            <a:r>
              <a:rPr lang="en-US" sz="20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隱藏底層技術細節，專注強調業務價值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273760" y="3847033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建立「發現、試用、申請、授權」的標準化安全閉環。讓企業能在最高級別的資安控管下，實現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AI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資源的全面民主化與自助服務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10075"/>
            <a:ext cx="2541240" cy="151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7419" y="2230933"/>
            <a:ext cx="2541240" cy="151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339" y="4410075"/>
            <a:ext cx="2541240" cy="151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9259" y="2230933"/>
            <a:ext cx="2541240" cy="15123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571500" y="405765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717995" y="4610100"/>
            <a:ext cx="2248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發掘探索</a:t>
            </a:r>
            <a:endParaRPr b="1"/>
          </a:p>
        </p:txBody>
      </p:sp>
      <p:sp>
        <p:nvSpPr>
          <p:cNvPr id="123" name="Google Shape;123;p18"/>
          <p:cNvSpPr txBox="1"/>
          <p:nvPr/>
        </p:nvSpPr>
        <p:spPr>
          <a:xfrm>
            <a:off x="771525" y="4991100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員工於 Marketplace 瀏覽圖卡式 Agent 服務清單，快速了解各項 AI 技能。</a:t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3553915" y="2430958"/>
            <a:ext cx="2248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申請試用</a:t>
            </a:r>
            <a:endParaRPr b="1"/>
          </a:p>
        </p:txBody>
      </p:sp>
      <p:sp>
        <p:nvSpPr>
          <p:cNvPr id="125" name="Google Shape;125;p18"/>
          <p:cNvSpPr txBox="1"/>
          <p:nvPr/>
        </p:nvSpPr>
        <p:spPr>
          <a:xfrm>
            <a:off x="3607444" y="2811958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確認該 Agent 所需權限（如讀取指定資料庫），評估後發出使用申請。</a:t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6389835" y="4610100"/>
            <a:ext cx="2248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 主管核准</a:t>
            </a:r>
            <a:endParaRPr b="1"/>
          </a:p>
        </p:txBody>
      </p:sp>
      <p:sp>
        <p:nvSpPr>
          <p:cNvPr id="127" name="Google Shape;127;p18"/>
          <p:cNvSpPr txBox="1"/>
          <p:nvPr/>
        </p:nvSpPr>
        <p:spPr>
          <a:xfrm>
            <a:off x="6443364" y="4991100"/>
            <a:ext cx="21411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權責主管於後台審核，系統隨後自動核發受控且可追蹤的 API Token。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9225755" y="2430958"/>
            <a:ext cx="2248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 落地執行</a:t>
            </a:r>
            <a:endParaRPr b="1"/>
          </a:p>
        </p:txBody>
      </p:sp>
      <p:sp>
        <p:nvSpPr>
          <p:cNvPr id="129" name="Google Shape;129;p18"/>
          <p:cNvSpPr txBox="1"/>
          <p:nvPr/>
        </p:nvSpPr>
        <p:spPr>
          <a:xfrm>
            <a:off x="9279284" y="2811958"/>
            <a:ext cx="21411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Agent 開始在合規、安全的環境內自動調用工具，執行指派業務。</a:t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1727820" y="3962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563740" y="3962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7399659" y="3962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10235579" y="3962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1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商城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自助式服務：標準化申請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/>
          <p:nvPr/>
        </p:nvSpPr>
        <p:spPr>
          <a:xfrm>
            <a:off x="1333500" y="1139428"/>
            <a:ext cx="9525000" cy="1182885"/>
          </a:xfrm>
          <a:prstGeom prst="roundRect">
            <a:avLst>
              <a:gd name="adj" fmla="val 9662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2095500" y="1377553"/>
            <a:ext cx="8477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Level 4: AI代理 (</a:t>
            </a:r>
            <a:r>
              <a:rPr lang="en-US" sz="15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Agent)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與終端使用者互動的服務層。具備規劃大腦，調度底層資源以完成複雜的企業場景任務。</a:t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1333500" y="2512814"/>
            <a:ext cx="9525000" cy="1182885"/>
          </a:xfrm>
          <a:prstGeom prst="roundRect">
            <a:avLst>
              <a:gd name="adj" fmla="val 9662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2095500" y="2750939"/>
            <a:ext cx="8477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Level 3: 專業技能 (Skills)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封裝企業標準作業流程 (SOP)。提供清晰的解題邏輯與框架，確保 AI 行為符合企業規範。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1333500" y="3886200"/>
            <a:ext cx="9525000" cy="1182885"/>
          </a:xfrm>
          <a:prstGeom prst="roundRect">
            <a:avLst>
              <a:gd name="adj" fmla="val 9662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2095500" y="4124325"/>
            <a:ext cx="8477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Level 2: MCP</a:t>
            </a:r>
            <a:r>
              <a:rPr lang="en-US" sz="15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工具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(MCP Tools)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賦予 AI 讀寫數據與操作的能力。作為連接企業內部資料庫、ERP 及外部 API 的安全接口。</a:t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1333500" y="5259585"/>
            <a:ext cx="9525000" cy="1182885"/>
          </a:xfrm>
          <a:prstGeom prst="roundRect">
            <a:avLst>
              <a:gd name="adj" fmla="val 9662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2095500" y="5497710"/>
            <a:ext cx="8477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Level 1: </a:t>
            </a:r>
            <a:r>
              <a:rPr lang="en-US" sz="15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LLM模型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(LLMs)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提供核心的運算、推理與語言理解能力。支援靈活切換不同供應商模型以最佳化成本與效能。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1333500" y="2312789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1333500" y="3686175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1333500" y="5059560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1333500" y="6432946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1150" y="1568946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2942332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1150" y="4315717"/>
            <a:ext cx="2286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81150" y="5689103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533475" y="360299"/>
            <a:ext cx="81158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價值鏈：四大</a:t>
            </a:r>
            <a:r>
              <a:rPr lang="zh-TW" altLang="en-US" sz="31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階層全面納管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矩形 202">
            <a:extLst>
              <a:ext uri="{FF2B5EF4-FFF2-40B4-BE49-F238E27FC236}">
                <a16:creationId xmlns:a16="http://schemas.microsoft.com/office/drawing/2014/main" id="{9A05213F-19F8-4E38-A521-7F03E541B3CC}"/>
              </a:ext>
            </a:extLst>
          </p:cNvPr>
          <p:cNvSpPr/>
          <p:nvPr/>
        </p:nvSpPr>
        <p:spPr>
          <a:xfrm>
            <a:off x="1131162" y="1410989"/>
            <a:ext cx="10080884" cy="52465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Google Shape;134;p18">
            <a:extLst>
              <a:ext uri="{FF2B5EF4-FFF2-40B4-BE49-F238E27FC236}">
                <a16:creationId xmlns:a16="http://schemas.microsoft.com/office/drawing/2014/main" id="{ABFB6D76-CCDD-4471-A1E3-3B4AD4D5BD3C}"/>
              </a:ext>
            </a:extLst>
          </p:cNvPr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Marketplace </a:t>
            </a:r>
            <a:r>
              <a:rPr lang="zh-TW" altLang="en-US" sz="315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與 </a:t>
            </a:r>
            <a:r>
              <a:rPr lang="en-US" sz="315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AWS Bedrock </a:t>
            </a:r>
            <a:r>
              <a:rPr lang="en-US" sz="3150" b="1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AgentCore</a:t>
            </a:r>
            <a:r>
              <a:rPr lang="en-US" sz="315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zh-TW" altLang="en-US" sz="315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整合架構圖</a:t>
            </a:r>
          </a:p>
        </p:txBody>
      </p:sp>
      <p:sp>
        <p:nvSpPr>
          <p:cNvPr id="104" name="矩形: 圓角 103">
            <a:extLst>
              <a:ext uri="{FF2B5EF4-FFF2-40B4-BE49-F238E27FC236}">
                <a16:creationId xmlns:a16="http://schemas.microsoft.com/office/drawing/2014/main" id="{3E2CA2F1-8818-4125-8B59-93B9D67CB528}"/>
              </a:ext>
            </a:extLst>
          </p:cNvPr>
          <p:cNvSpPr/>
          <p:nvPr/>
        </p:nvSpPr>
        <p:spPr>
          <a:xfrm>
            <a:off x="1862877" y="5257814"/>
            <a:ext cx="8638133" cy="890557"/>
          </a:xfrm>
          <a:prstGeom prst="roundRect">
            <a:avLst>
              <a:gd name="adj" fmla="val 10677"/>
            </a:avLst>
          </a:prstGeom>
          <a:solidFill>
            <a:srgbClr val="D8E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: 圓角 104">
            <a:extLst>
              <a:ext uri="{FF2B5EF4-FFF2-40B4-BE49-F238E27FC236}">
                <a16:creationId xmlns:a16="http://schemas.microsoft.com/office/drawing/2014/main" id="{BE27FCAE-D822-45DC-9E3B-032A8784AE02}"/>
              </a:ext>
            </a:extLst>
          </p:cNvPr>
          <p:cNvSpPr/>
          <p:nvPr/>
        </p:nvSpPr>
        <p:spPr>
          <a:xfrm>
            <a:off x="1862877" y="4165254"/>
            <a:ext cx="8638133" cy="1008184"/>
          </a:xfrm>
          <a:prstGeom prst="roundRect">
            <a:avLst>
              <a:gd name="adj" fmla="val 9109"/>
            </a:avLst>
          </a:prstGeom>
          <a:solidFill>
            <a:srgbClr val="DDEE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CE99B43E-C765-403C-A7BC-F48BC1622354}"/>
              </a:ext>
            </a:extLst>
          </p:cNvPr>
          <p:cNvSpPr/>
          <p:nvPr/>
        </p:nvSpPr>
        <p:spPr>
          <a:xfrm>
            <a:off x="1862877" y="2979614"/>
            <a:ext cx="8638133" cy="1101264"/>
          </a:xfrm>
          <a:prstGeom prst="roundRect">
            <a:avLst>
              <a:gd name="adj" fmla="val 9402"/>
            </a:avLst>
          </a:prstGeom>
          <a:solidFill>
            <a:srgbClr val="FFE7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15E54F92-3844-49EE-96CE-9BB4DB75ED4D}"/>
              </a:ext>
            </a:extLst>
          </p:cNvPr>
          <p:cNvSpPr/>
          <p:nvPr/>
        </p:nvSpPr>
        <p:spPr>
          <a:xfrm>
            <a:off x="1862877" y="1887054"/>
            <a:ext cx="8638133" cy="1008184"/>
          </a:xfrm>
          <a:prstGeom prst="roundRect">
            <a:avLst>
              <a:gd name="adj" fmla="val 7975"/>
            </a:avLst>
          </a:prstGeom>
          <a:solidFill>
            <a:srgbClr val="DED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707660EF-8F55-418A-9B2B-D948747EB4AB}"/>
              </a:ext>
            </a:extLst>
          </p:cNvPr>
          <p:cNvGrpSpPr/>
          <p:nvPr/>
        </p:nvGrpSpPr>
        <p:grpSpPr>
          <a:xfrm>
            <a:off x="2024177" y="2176235"/>
            <a:ext cx="1231012" cy="477510"/>
            <a:chOff x="932733" y="895258"/>
            <a:chExt cx="1231012" cy="477510"/>
          </a:xfrm>
        </p:grpSpPr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D2DC8756-5473-4B8D-BB71-FE66C63D4B39}"/>
                </a:ext>
              </a:extLst>
            </p:cNvPr>
            <p:cNvSpPr txBox="1"/>
            <p:nvPr/>
          </p:nvSpPr>
          <p:spPr>
            <a:xfrm>
              <a:off x="932733" y="895258"/>
              <a:ext cx="1231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/>
                <a:t>Use Layer</a:t>
              </a:r>
              <a:endParaRPr lang="zh-TW" altLang="en-US" b="1" dirty="0"/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023D9A15-EDA6-4A5A-A1DE-D0A55F7DAF5E}"/>
                </a:ext>
              </a:extLst>
            </p:cNvPr>
            <p:cNvSpPr txBox="1"/>
            <p:nvPr/>
          </p:nvSpPr>
          <p:spPr>
            <a:xfrm>
              <a:off x="932733" y="1111158"/>
              <a:ext cx="10300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100" b="1" dirty="0"/>
                <a:t>(User Layer)</a:t>
              </a:r>
              <a:endParaRPr lang="zh-TW" altLang="en-US" sz="1100" b="1" dirty="0"/>
            </a:p>
          </p:txBody>
        </p:sp>
      </p:grpSp>
      <p:sp>
        <p:nvSpPr>
          <p:cNvPr id="111" name="矩形: 圓角 110">
            <a:extLst>
              <a:ext uri="{FF2B5EF4-FFF2-40B4-BE49-F238E27FC236}">
                <a16:creationId xmlns:a16="http://schemas.microsoft.com/office/drawing/2014/main" id="{CC62B9A8-7C8B-4C80-A755-3B593877C7DD}"/>
              </a:ext>
            </a:extLst>
          </p:cNvPr>
          <p:cNvSpPr/>
          <p:nvPr/>
        </p:nvSpPr>
        <p:spPr>
          <a:xfrm>
            <a:off x="3557729" y="1976150"/>
            <a:ext cx="621077" cy="731491"/>
          </a:xfrm>
          <a:prstGeom prst="roundRect">
            <a:avLst>
              <a:gd name="adj" fmla="val 8065"/>
            </a:avLst>
          </a:prstGeom>
          <a:solidFill>
            <a:srgbClr val="EAEAF6"/>
          </a:solidFill>
          <a:ln w="95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9DD8B69D-0495-4F2D-9796-6BF367D5C91D}"/>
              </a:ext>
            </a:extLst>
          </p:cNvPr>
          <p:cNvSpPr/>
          <p:nvPr/>
        </p:nvSpPr>
        <p:spPr>
          <a:xfrm>
            <a:off x="4854480" y="1971013"/>
            <a:ext cx="1064998" cy="731491"/>
          </a:xfrm>
          <a:prstGeom prst="roundRect">
            <a:avLst>
              <a:gd name="adj" fmla="val 8065"/>
            </a:avLst>
          </a:prstGeom>
          <a:solidFill>
            <a:srgbClr val="EAEAF6"/>
          </a:solidFill>
          <a:ln w="95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5F18ED79-C14D-44D7-8946-6F19CA109AE1}"/>
              </a:ext>
            </a:extLst>
          </p:cNvPr>
          <p:cNvGrpSpPr/>
          <p:nvPr/>
        </p:nvGrpSpPr>
        <p:grpSpPr>
          <a:xfrm>
            <a:off x="8195789" y="1972443"/>
            <a:ext cx="2353234" cy="824196"/>
            <a:chOff x="5052521" y="1323154"/>
            <a:chExt cx="2353234" cy="824196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9E0693B0-8DEC-4335-91C0-A0EE9CC65574}"/>
                </a:ext>
              </a:extLst>
            </p:cNvPr>
            <p:cNvSpPr/>
            <p:nvPr/>
          </p:nvSpPr>
          <p:spPr>
            <a:xfrm>
              <a:off x="5052521" y="1323154"/>
              <a:ext cx="2193485" cy="82419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5" name="直線單箭頭接點 114">
              <a:extLst>
                <a:ext uri="{FF2B5EF4-FFF2-40B4-BE49-F238E27FC236}">
                  <a16:creationId xmlns:a16="http://schemas.microsoft.com/office/drawing/2014/main" id="{319970DC-130B-441F-8544-6CBADF8A3AB9}"/>
                </a:ext>
              </a:extLst>
            </p:cNvPr>
            <p:cNvCxnSpPr/>
            <p:nvPr/>
          </p:nvCxnSpPr>
          <p:spPr>
            <a:xfrm>
              <a:off x="5161503" y="1473758"/>
              <a:ext cx="355042" cy="0"/>
            </a:xfrm>
            <a:prstGeom prst="straightConnector1">
              <a:avLst/>
            </a:prstGeom>
            <a:ln w="12700">
              <a:solidFill>
                <a:srgbClr val="457A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>
              <a:extLst>
                <a:ext uri="{FF2B5EF4-FFF2-40B4-BE49-F238E27FC236}">
                  <a16:creationId xmlns:a16="http://schemas.microsoft.com/office/drawing/2014/main" id="{07161D76-1C08-4CCC-B27E-4A82F9494180}"/>
                </a:ext>
              </a:extLst>
            </p:cNvPr>
            <p:cNvCxnSpPr/>
            <p:nvPr/>
          </p:nvCxnSpPr>
          <p:spPr>
            <a:xfrm>
              <a:off x="5161503" y="1743388"/>
              <a:ext cx="355042" cy="0"/>
            </a:xfrm>
            <a:prstGeom prst="straightConnector1">
              <a:avLst/>
            </a:prstGeom>
            <a:ln w="12700">
              <a:solidFill>
                <a:srgbClr val="58974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>
              <a:extLst>
                <a:ext uri="{FF2B5EF4-FFF2-40B4-BE49-F238E27FC236}">
                  <a16:creationId xmlns:a16="http://schemas.microsoft.com/office/drawing/2014/main" id="{8CCCFE23-E296-4696-A58C-84ACC7F7A5FA}"/>
                </a:ext>
              </a:extLst>
            </p:cNvPr>
            <p:cNvCxnSpPr/>
            <p:nvPr/>
          </p:nvCxnSpPr>
          <p:spPr>
            <a:xfrm>
              <a:off x="5161503" y="2013019"/>
              <a:ext cx="355042" cy="0"/>
            </a:xfrm>
            <a:prstGeom prst="straightConnector1">
              <a:avLst/>
            </a:prstGeom>
            <a:ln w="12700">
              <a:solidFill>
                <a:srgbClr val="CC8A24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字方塊 117">
              <a:extLst>
                <a:ext uri="{FF2B5EF4-FFF2-40B4-BE49-F238E27FC236}">
                  <a16:creationId xmlns:a16="http://schemas.microsoft.com/office/drawing/2014/main" id="{4A99C3B3-82BD-472C-B5FF-638D3023F2DF}"/>
                </a:ext>
              </a:extLst>
            </p:cNvPr>
            <p:cNvSpPr txBox="1"/>
            <p:nvPr/>
          </p:nvSpPr>
          <p:spPr>
            <a:xfrm>
              <a:off x="5466303" y="1342953"/>
              <a:ext cx="135069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2000" b="1"/>
              </a:lvl1pPr>
            </a:lstStyle>
            <a:p>
              <a:r>
                <a:rPr lang="zh-TW" altLang="en-US" sz="1100" b="0" dirty="0"/>
                <a:t>請求流</a:t>
              </a:r>
              <a:r>
                <a:rPr lang="en-US" altLang="zh-TW" sz="900" b="0" dirty="0"/>
                <a:t>(Data Plane)</a:t>
              </a:r>
              <a:endParaRPr lang="zh-TW" altLang="en-US" sz="900" b="0" dirty="0"/>
            </a:p>
          </p:txBody>
        </p: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5A881D4B-A8E7-46C3-9B82-116D67F4B118}"/>
                </a:ext>
              </a:extLst>
            </p:cNvPr>
            <p:cNvSpPr txBox="1"/>
            <p:nvPr/>
          </p:nvSpPr>
          <p:spPr>
            <a:xfrm>
              <a:off x="5466302" y="1611086"/>
              <a:ext cx="19394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defRPr sz="1100"/>
              </a:lvl1pPr>
            </a:lstStyle>
            <a:p>
              <a:r>
                <a:rPr lang="zh-TW" altLang="en-US" dirty="0"/>
                <a:t>控制與配置流</a:t>
              </a:r>
              <a:r>
                <a:rPr lang="en-US" altLang="zh-TW" sz="900" dirty="0"/>
                <a:t>(Control Plane)</a:t>
              </a:r>
              <a:endParaRPr lang="zh-TW" altLang="en-US" sz="900" dirty="0"/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0E00F453-CABB-4555-898E-DC2BF1724C89}"/>
                </a:ext>
              </a:extLst>
            </p:cNvPr>
            <p:cNvSpPr txBox="1"/>
            <p:nvPr/>
          </p:nvSpPr>
          <p:spPr>
            <a:xfrm>
              <a:off x="5466303" y="1885740"/>
              <a:ext cx="1865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defRPr sz="1100"/>
              </a:lvl1pPr>
            </a:lstStyle>
            <a:p>
              <a:r>
                <a:rPr lang="zh-TW" altLang="en-US" dirty="0"/>
                <a:t>身份與權限流</a:t>
              </a:r>
              <a:r>
                <a:rPr lang="en-US" altLang="zh-TW" sz="900" dirty="0"/>
                <a:t>(Identity Flow)</a:t>
              </a:r>
              <a:endParaRPr lang="zh-TW" altLang="en-US" sz="900" dirty="0"/>
            </a:p>
          </p:txBody>
        </p:sp>
      </p:grpSp>
      <p:grpSp>
        <p:nvGrpSpPr>
          <p:cNvPr id="121" name="群組 120">
            <a:extLst>
              <a:ext uri="{FF2B5EF4-FFF2-40B4-BE49-F238E27FC236}">
                <a16:creationId xmlns:a16="http://schemas.microsoft.com/office/drawing/2014/main" id="{933A89B1-7701-4E4C-8413-FD20AAD44307}"/>
              </a:ext>
            </a:extLst>
          </p:cNvPr>
          <p:cNvGrpSpPr/>
          <p:nvPr/>
        </p:nvGrpSpPr>
        <p:grpSpPr>
          <a:xfrm>
            <a:off x="2007705" y="5445729"/>
            <a:ext cx="1231012" cy="514726"/>
            <a:chOff x="932733" y="858042"/>
            <a:chExt cx="1231012" cy="514726"/>
          </a:xfrm>
        </p:grpSpPr>
        <p:sp>
          <p:nvSpPr>
            <p:cNvPr id="122" name="文字方塊 121">
              <a:extLst>
                <a:ext uri="{FF2B5EF4-FFF2-40B4-BE49-F238E27FC236}">
                  <a16:creationId xmlns:a16="http://schemas.microsoft.com/office/drawing/2014/main" id="{DA5FF1B9-1EC7-401F-9DEA-CC37889138D5}"/>
                </a:ext>
              </a:extLst>
            </p:cNvPr>
            <p:cNvSpPr txBox="1"/>
            <p:nvPr/>
          </p:nvSpPr>
          <p:spPr>
            <a:xfrm>
              <a:off x="932733" y="858042"/>
              <a:ext cx="1231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/>
                <a:t>Tool Layer</a:t>
              </a:r>
              <a:endParaRPr lang="zh-TW" altLang="en-US" b="1" dirty="0"/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13C4DBAF-F133-49DA-8FE3-7554E6DB15BC}"/>
                </a:ext>
              </a:extLst>
            </p:cNvPr>
            <p:cNvSpPr txBox="1"/>
            <p:nvPr/>
          </p:nvSpPr>
          <p:spPr>
            <a:xfrm>
              <a:off x="932733" y="1111158"/>
              <a:ext cx="10300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b="1" dirty="0"/>
                <a:t>底層工具</a:t>
              </a:r>
            </a:p>
          </p:txBody>
        </p:sp>
      </p:grpSp>
      <p:grpSp>
        <p:nvGrpSpPr>
          <p:cNvPr id="124" name="群組 123">
            <a:extLst>
              <a:ext uri="{FF2B5EF4-FFF2-40B4-BE49-F238E27FC236}">
                <a16:creationId xmlns:a16="http://schemas.microsoft.com/office/drawing/2014/main" id="{AA71455D-F6DE-4190-A207-3CD502623649}"/>
              </a:ext>
            </a:extLst>
          </p:cNvPr>
          <p:cNvGrpSpPr/>
          <p:nvPr/>
        </p:nvGrpSpPr>
        <p:grpSpPr>
          <a:xfrm>
            <a:off x="2018530" y="3176825"/>
            <a:ext cx="1655825" cy="764806"/>
            <a:chOff x="932732" y="1988739"/>
            <a:chExt cx="1655825" cy="764806"/>
          </a:xfrm>
        </p:grpSpPr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9E901A57-8076-4FE1-986D-5054D54AB5DE}"/>
                </a:ext>
              </a:extLst>
            </p:cNvPr>
            <p:cNvSpPr txBox="1"/>
            <p:nvPr/>
          </p:nvSpPr>
          <p:spPr>
            <a:xfrm>
              <a:off x="932733" y="1988739"/>
              <a:ext cx="1655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/>
                <a:t>Amazon Bedrock</a:t>
              </a:r>
              <a:endParaRPr lang="zh-TW" altLang="en-US" b="1" dirty="0"/>
            </a:p>
          </p:txBody>
        </p:sp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6D8A876C-3758-4655-9644-69087F636E83}"/>
                </a:ext>
              </a:extLst>
            </p:cNvPr>
            <p:cNvSpPr txBox="1"/>
            <p:nvPr/>
          </p:nvSpPr>
          <p:spPr>
            <a:xfrm>
              <a:off x="932733" y="2491935"/>
              <a:ext cx="143708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b="1" dirty="0"/>
                <a:t>託管</a:t>
              </a:r>
              <a:r>
                <a:rPr lang="en-US" altLang="zh-TW" sz="1100" b="1" dirty="0"/>
                <a:t>Agent</a:t>
              </a:r>
              <a:r>
                <a:rPr lang="zh-TW" altLang="en-US" sz="1100" b="1" dirty="0"/>
                <a:t>核心生態</a:t>
              </a:r>
            </a:p>
          </p:txBody>
        </p:sp>
        <p:sp>
          <p:nvSpPr>
            <p:cNvPr id="127" name="文字方塊 126">
              <a:extLst>
                <a:ext uri="{FF2B5EF4-FFF2-40B4-BE49-F238E27FC236}">
                  <a16:creationId xmlns:a16="http://schemas.microsoft.com/office/drawing/2014/main" id="{D46BFBA2-DE6A-4C26-BE6F-F43CF027541F}"/>
                </a:ext>
              </a:extLst>
            </p:cNvPr>
            <p:cNvSpPr txBox="1"/>
            <p:nvPr/>
          </p:nvSpPr>
          <p:spPr>
            <a:xfrm>
              <a:off x="932732" y="2235468"/>
              <a:ext cx="1655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err="1"/>
                <a:t>AgentCore</a:t>
              </a:r>
              <a:r>
                <a:rPr lang="en-US" altLang="zh-TW" b="1" dirty="0"/>
                <a:t> Layer</a:t>
              </a:r>
              <a:endParaRPr lang="zh-TW" altLang="en-US" b="1" dirty="0"/>
            </a:p>
          </p:txBody>
        </p:sp>
      </p:grp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35C55D96-19F1-4A72-9E00-8DE0BAB8ECE9}"/>
              </a:ext>
            </a:extLst>
          </p:cNvPr>
          <p:cNvGrpSpPr/>
          <p:nvPr/>
        </p:nvGrpSpPr>
        <p:grpSpPr>
          <a:xfrm>
            <a:off x="2001768" y="4309524"/>
            <a:ext cx="1772370" cy="764806"/>
            <a:chOff x="932732" y="1988739"/>
            <a:chExt cx="1772370" cy="764806"/>
          </a:xfrm>
        </p:grpSpPr>
        <p:sp>
          <p:nvSpPr>
            <p:cNvPr id="129" name="文字方塊 128">
              <a:extLst>
                <a:ext uri="{FF2B5EF4-FFF2-40B4-BE49-F238E27FC236}">
                  <a16:creationId xmlns:a16="http://schemas.microsoft.com/office/drawing/2014/main" id="{8561E893-ED80-4DC2-988A-C7F7D94E49D5}"/>
                </a:ext>
              </a:extLst>
            </p:cNvPr>
            <p:cNvSpPr txBox="1"/>
            <p:nvPr/>
          </p:nvSpPr>
          <p:spPr>
            <a:xfrm>
              <a:off x="932733" y="1988739"/>
              <a:ext cx="1655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/>
                <a:t>digiRunner</a:t>
              </a:r>
              <a:endParaRPr lang="zh-TW" altLang="en-US" b="1" dirty="0"/>
            </a:p>
          </p:txBody>
        </p:sp>
        <p:sp>
          <p:nvSpPr>
            <p:cNvPr id="130" name="文字方塊 129">
              <a:extLst>
                <a:ext uri="{FF2B5EF4-FFF2-40B4-BE49-F238E27FC236}">
                  <a16:creationId xmlns:a16="http://schemas.microsoft.com/office/drawing/2014/main" id="{2313E523-F230-4644-AEEC-895B303945C1}"/>
                </a:ext>
              </a:extLst>
            </p:cNvPr>
            <p:cNvSpPr txBox="1"/>
            <p:nvPr/>
          </p:nvSpPr>
          <p:spPr>
            <a:xfrm>
              <a:off x="932733" y="2491935"/>
              <a:ext cx="143708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b="1" dirty="0"/>
                <a:t>用戶自建</a:t>
              </a:r>
            </a:p>
          </p:txBody>
        </p:sp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85D98A38-2E8F-4B0F-ABB2-60BCD815966F}"/>
                </a:ext>
              </a:extLst>
            </p:cNvPr>
            <p:cNvSpPr txBox="1"/>
            <p:nvPr/>
          </p:nvSpPr>
          <p:spPr>
            <a:xfrm>
              <a:off x="932732" y="2235468"/>
              <a:ext cx="17723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/>
                <a:t>AI Gateway Layer</a:t>
              </a:r>
              <a:endParaRPr lang="zh-TW" altLang="en-US" b="1" dirty="0"/>
            </a:p>
          </p:txBody>
        </p:sp>
      </p:grpSp>
      <p:sp>
        <p:nvSpPr>
          <p:cNvPr id="132" name="矩形: 圓角 131">
            <a:extLst>
              <a:ext uri="{FF2B5EF4-FFF2-40B4-BE49-F238E27FC236}">
                <a16:creationId xmlns:a16="http://schemas.microsoft.com/office/drawing/2014/main" id="{4DD7F3F7-FF8D-469C-99EF-DF0B14CD0C77}"/>
              </a:ext>
            </a:extLst>
          </p:cNvPr>
          <p:cNvSpPr/>
          <p:nvPr/>
        </p:nvSpPr>
        <p:spPr>
          <a:xfrm>
            <a:off x="3932476" y="3188750"/>
            <a:ext cx="1979421" cy="476679"/>
          </a:xfrm>
          <a:prstGeom prst="roundRect">
            <a:avLst>
              <a:gd name="adj" fmla="val 8065"/>
            </a:avLst>
          </a:prstGeom>
          <a:solidFill>
            <a:srgbClr val="FEF4EC"/>
          </a:solidFill>
          <a:ln w="9525">
            <a:solidFill>
              <a:srgbClr val="CC8A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矩形: 圓角 132">
            <a:extLst>
              <a:ext uri="{FF2B5EF4-FFF2-40B4-BE49-F238E27FC236}">
                <a16:creationId xmlns:a16="http://schemas.microsoft.com/office/drawing/2014/main" id="{6081EB14-C64D-4079-8997-BABE09331CB6}"/>
              </a:ext>
            </a:extLst>
          </p:cNvPr>
          <p:cNvSpPr/>
          <p:nvPr/>
        </p:nvSpPr>
        <p:spPr>
          <a:xfrm>
            <a:off x="6048820" y="3182163"/>
            <a:ext cx="2050796" cy="476679"/>
          </a:xfrm>
          <a:prstGeom prst="roundRect">
            <a:avLst>
              <a:gd name="adj" fmla="val 8065"/>
            </a:avLst>
          </a:prstGeom>
          <a:solidFill>
            <a:srgbClr val="FEF4EC"/>
          </a:solidFill>
          <a:ln w="9525">
            <a:solidFill>
              <a:srgbClr val="CC8A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矩形: 圓角 133">
            <a:extLst>
              <a:ext uri="{FF2B5EF4-FFF2-40B4-BE49-F238E27FC236}">
                <a16:creationId xmlns:a16="http://schemas.microsoft.com/office/drawing/2014/main" id="{B99D984C-A512-4341-93DD-09CB88A25206}"/>
              </a:ext>
            </a:extLst>
          </p:cNvPr>
          <p:cNvSpPr/>
          <p:nvPr/>
        </p:nvSpPr>
        <p:spPr>
          <a:xfrm>
            <a:off x="8236539" y="3182163"/>
            <a:ext cx="1956834" cy="476679"/>
          </a:xfrm>
          <a:prstGeom prst="roundRect">
            <a:avLst>
              <a:gd name="adj" fmla="val 8065"/>
            </a:avLst>
          </a:prstGeom>
          <a:solidFill>
            <a:srgbClr val="FEF4EC"/>
          </a:solidFill>
          <a:ln w="9525">
            <a:solidFill>
              <a:srgbClr val="CC8A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矩形: 圓角 134">
            <a:extLst>
              <a:ext uri="{FF2B5EF4-FFF2-40B4-BE49-F238E27FC236}">
                <a16:creationId xmlns:a16="http://schemas.microsoft.com/office/drawing/2014/main" id="{DB503BC6-A268-46B9-8152-3BD29B00DED6}"/>
              </a:ext>
            </a:extLst>
          </p:cNvPr>
          <p:cNvSpPr/>
          <p:nvPr/>
        </p:nvSpPr>
        <p:spPr>
          <a:xfrm>
            <a:off x="3788229" y="4360803"/>
            <a:ext cx="3332083" cy="633843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5F9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562A5C30-33D8-4335-85A0-3D65839BC56E}"/>
              </a:ext>
            </a:extLst>
          </p:cNvPr>
          <p:cNvSpPr txBox="1"/>
          <p:nvPr/>
        </p:nvSpPr>
        <p:spPr>
          <a:xfrm>
            <a:off x="3530474" y="2478318"/>
            <a:ext cx="707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b="1" dirty="0">
                <a:solidFill>
                  <a:schemeClr val="bg1"/>
                </a:solidFill>
              </a:rPr>
              <a:t>終端用戶</a:t>
            </a:r>
          </a:p>
        </p:txBody>
      </p:sp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31150EBE-A68A-490B-92C2-33665E42C37E}"/>
              </a:ext>
            </a:extLst>
          </p:cNvPr>
          <p:cNvGrpSpPr/>
          <p:nvPr/>
        </p:nvGrpSpPr>
        <p:grpSpPr>
          <a:xfrm>
            <a:off x="4854480" y="2353642"/>
            <a:ext cx="1132725" cy="380169"/>
            <a:chOff x="3476732" y="1216335"/>
            <a:chExt cx="1132725" cy="380169"/>
          </a:xfrm>
        </p:grpSpPr>
        <p:sp>
          <p:nvSpPr>
            <p:cNvPr id="138" name="文字方塊 137">
              <a:extLst>
                <a:ext uri="{FF2B5EF4-FFF2-40B4-BE49-F238E27FC236}">
                  <a16:creationId xmlns:a16="http://schemas.microsoft.com/office/drawing/2014/main" id="{E0C56B64-D0A9-4E2B-A352-3614D231361E}"/>
                </a:ext>
              </a:extLst>
            </p:cNvPr>
            <p:cNvSpPr txBox="1"/>
            <p:nvPr/>
          </p:nvSpPr>
          <p:spPr>
            <a:xfrm>
              <a:off x="3476732" y="1216335"/>
              <a:ext cx="11327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chemeClr val="bg1"/>
                  </a:solidFill>
                </a:rPr>
                <a:t>AI Marketplace</a:t>
              </a:r>
              <a:endParaRPr lang="zh-TW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39" name="文字方塊 138">
              <a:extLst>
                <a:ext uri="{FF2B5EF4-FFF2-40B4-BE49-F238E27FC236}">
                  <a16:creationId xmlns:a16="http://schemas.microsoft.com/office/drawing/2014/main" id="{55B6F1E4-F7A7-47F9-ABCD-AAD474E876E3}"/>
                </a:ext>
              </a:extLst>
            </p:cNvPr>
            <p:cNvSpPr txBox="1"/>
            <p:nvPr/>
          </p:nvSpPr>
          <p:spPr>
            <a:xfrm>
              <a:off x="3629306" y="1350283"/>
              <a:ext cx="7542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>
                  <a:solidFill>
                    <a:schemeClr val="bg1"/>
                  </a:solidFill>
                </a:rPr>
                <a:t>(Portal/UI)</a:t>
              </a:r>
              <a:endParaRPr lang="zh-TW" altLang="en-US" sz="1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40" name="直線單箭頭接點 139">
            <a:extLst>
              <a:ext uri="{FF2B5EF4-FFF2-40B4-BE49-F238E27FC236}">
                <a16:creationId xmlns:a16="http://schemas.microsoft.com/office/drawing/2014/main" id="{6CFC63A8-8A30-4C00-9858-A877D100E2C6}"/>
              </a:ext>
            </a:extLst>
          </p:cNvPr>
          <p:cNvCxnSpPr>
            <a:cxnSpLocks/>
            <a:endCxn id="141" idx="1"/>
          </p:cNvCxnSpPr>
          <p:nvPr/>
        </p:nvCxnSpPr>
        <p:spPr>
          <a:xfrm>
            <a:off x="5919477" y="2180053"/>
            <a:ext cx="1214706" cy="1"/>
          </a:xfrm>
          <a:prstGeom prst="straightConnector1">
            <a:avLst/>
          </a:prstGeom>
          <a:ln w="12700">
            <a:solidFill>
              <a:srgbClr val="589746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Picture 2" descr="images (196×196)">
            <a:extLst>
              <a:ext uri="{FF2B5EF4-FFF2-40B4-BE49-F238E27FC236}">
                <a16:creationId xmlns:a16="http://schemas.microsoft.com/office/drawing/2014/main" id="{4BF92AD3-C82B-450C-88A2-589D83864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183" y="1984612"/>
            <a:ext cx="390883" cy="39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BA966176-5D1A-4F4D-B33A-B0FDAAF4CD21}"/>
              </a:ext>
            </a:extLst>
          </p:cNvPr>
          <p:cNvGrpSpPr/>
          <p:nvPr/>
        </p:nvGrpSpPr>
        <p:grpSpPr>
          <a:xfrm>
            <a:off x="6439663" y="2348337"/>
            <a:ext cx="1772712" cy="523314"/>
            <a:chOff x="3660491" y="1194211"/>
            <a:chExt cx="1772712" cy="523314"/>
          </a:xfrm>
        </p:grpSpPr>
        <p:sp>
          <p:nvSpPr>
            <p:cNvPr id="143" name="文字方塊 142">
              <a:extLst>
                <a:ext uri="{FF2B5EF4-FFF2-40B4-BE49-F238E27FC236}">
                  <a16:creationId xmlns:a16="http://schemas.microsoft.com/office/drawing/2014/main" id="{B20CBE94-2F65-4D5A-8E93-CDC0DACDBE31}"/>
                </a:ext>
              </a:extLst>
            </p:cNvPr>
            <p:cNvSpPr txBox="1"/>
            <p:nvPr/>
          </p:nvSpPr>
          <p:spPr>
            <a:xfrm>
              <a:off x="4054085" y="1194211"/>
              <a:ext cx="11327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chemeClr val="bg1"/>
                  </a:solidFill>
                </a:rPr>
                <a:t>Bedrock APIs</a:t>
              </a:r>
              <a:endParaRPr lang="zh-TW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44" name="文字方塊 143">
              <a:extLst>
                <a:ext uri="{FF2B5EF4-FFF2-40B4-BE49-F238E27FC236}">
                  <a16:creationId xmlns:a16="http://schemas.microsoft.com/office/drawing/2014/main" id="{7EDCE7EE-8569-41FA-9D99-22015473860E}"/>
                </a:ext>
              </a:extLst>
            </p:cNvPr>
            <p:cNvSpPr txBox="1"/>
            <p:nvPr/>
          </p:nvSpPr>
          <p:spPr>
            <a:xfrm>
              <a:off x="3660491" y="1348193"/>
              <a:ext cx="17727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900" dirty="0">
                  <a:solidFill>
                    <a:schemeClr val="bg1"/>
                  </a:solidFill>
                </a:rPr>
                <a:t>(</a:t>
              </a:r>
              <a:r>
                <a:rPr lang="zh-TW" altLang="en-US" sz="900" dirty="0">
                  <a:solidFill>
                    <a:schemeClr val="bg1"/>
                  </a:solidFill>
                </a:rPr>
                <a:t>自動部署</a:t>
              </a:r>
              <a:r>
                <a:rPr lang="en-US" altLang="zh-TW" sz="900" dirty="0">
                  <a:solidFill>
                    <a:schemeClr val="bg1"/>
                  </a:solidFill>
                </a:rPr>
                <a:t>Runtime</a:t>
              </a:r>
              <a:r>
                <a:rPr lang="zh-TW" altLang="en-US" sz="900" dirty="0">
                  <a:solidFill>
                    <a:schemeClr val="bg1"/>
                  </a:solidFill>
                </a:rPr>
                <a:t>、</a:t>
              </a:r>
              <a:endParaRPr lang="en-US" altLang="zh-TW" sz="900" dirty="0">
                <a:solidFill>
                  <a:schemeClr val="bg1"/>
                </a:solidFill>
              </a:endParaRPr>
            </a:p>
            <a:p>
              <a:pPr algn="ctr"/>
              <a:r>
                <a:rPr lang="zh-TW" altLang="en-US" sz="900" dirty="0">
                  <a:solidFill>
                    <a:schemeClr val="bg1"/>
                  </a:solidFill>
                </a:rPr>
                <a:t>建立</a:t>
              </a:r>
              <a:r>
                <a:rPr lang="en-US" altLang="zh-TW" sz="900" dirty="0">
                  <a:solidFill>
                    <a:schemeClr val="bg1"/>
                  </a:solidFill>
                </a:rPr>
                <a:t>Identity</a:t>
              </a:r>
              <a:r>
                <a:rPr lang="zh-TW" altLang="en-US" sz="900" dirty="0">
                  <a:solidFill>
                    <a:schemeClr val="bg1"/>
                  </a:solidFill>
                </a:rPr>
                <a:t>、註冊</a:t>
              </a:r>
              <a:r>
                <a:rPr lang="en-US" altLang="zh-TW" sz="900" dirty="0">
                  <a:solidFill>
                    <a:schemeClr val="bg1"/>
                  </a:solidFill>
                </a:rPr>
                <a:t>Target)</a:t>
              </a:r>
              <a:endParaRPr lang="zh-TW" altLang="en-US" sz="9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45" name="接點: 肘形 144">
            <a:extLst>
              <a:ext uri="{FF2B5EF4-FFF2-40B4-BE49-F238E27FC236}">
                <a16:creationId xmlns:a16="http://schemas.microsoft.com/office/drawing/2014/main" id="{6B6D2492-6648-470C-8BA6-230E9E429DB5}"/>
              </a:ext>
            </a:extLst>
          </p:cNvPr>
          <p:cNvCxnSpPr>
            <a:cxnSpLocks/>
            <a:stCxn id="112" idx="3"/>
          </p:cNvCxnSpPr>
          <p:nvPr/>
        </p:nvCxnSpPr>
        <p:spPr>
          <a:xfrm>
            <a:off x="5919478" y="2336759"/>
            <a:ext cx="543982" cy="831675"/>
          </a:xfrm>
          <a:prstGeom prst="bentConnector2">
            <a:avLst/>
          </a:prstGeom>
          <a:ln w="12700">
            <a:solidFill>
              <a:srgbClr val="589746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>
            <a:extLst>
              <a:ext uri="{FF2B5EF4-FFF2-40B4-BE49-F238E27FC236}">
                <a16:creationId xmlns:a16="http://schemas.microsoft.com/office/drawing/2014/main" id="{D933A502-0CDE-4522-A2E6-9EA39F32DC29}"/>
              </a:ext>
            </a:extLst>
          </p:cNvPr>
          <p:cNvCxnSpPr>
            <a:cxnSpLocks/>
            <a:stCxn id="111" idx="3"/>
            <a:endCxn id="112" idx="1"/>
          </p:cNvCxnSpPr>
          <p:nvPr/>
        </p:nvCxnSpPr>
        <p:spPr>
          <a:xfrm flipV="1">
            <a:off x="4178806" y="2336759"/>
            <a:ext cx="675674" cy="5137"/>
          </a:xfrm>
          <a:prstGeom prst="straightConnector1">
            <a:avLst/>
          </a:prstGeom>
          <a:ln w="12700">
            <a:solidFill>
              <a:srgbClr val="457A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>
            <a:extLst>
              <a:ext uri="{FF2B5EF4-FFF2-40B4-BE49-F238E27FC236}">
                <a16:creationId xmlns:a16="http://schemas.microsoft.com/office/drawing/2014/main" id="{E601F2FE-C0CF-425B-9964-E0FBCA310D48}"/>
              </a:ext>
            </a:extLst>
          </p:cNvPr>
          <p:cNvCxnSpPr>
            <a:cxnSpLocks/>
          </p:cNvCxnSpPr>
          <p:nvPr/>
        </p:nvCxnSpPr>
        <p:spPr>
          <a:xfrm flipV="1">
            <a:off x="4123319" y="3664010"/>
            <a:ext cx="4880" cy="696793"/>
          </a:xfrm>
          <a:prstGeom prst="straightConnector1">
            <a:avLst/>
          </a:prstGeom>
          <a:ln w="12700">
            <a:solidFill>
              <a:srgbClr val="457A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87496FF2-09E9-41B6-8797-8FC1C5A8BDED}"/>
              </a:ext>
            </a:extLst>
          </p:cNvPr>
          <p:cNvGrpSpPr/>
          <p:nvPr/>
        </p:nvGrpSpPr>
        <p:grpSpPr>
          <a:xfrm>
            <a:off x="4382932" y="5471638"/>
            <a:ext cx="964182" cy="695004"/>
            <a:chOff x="2784859" y="4324813"/>
            <a:chExt cx="964182" cy="695004"/>
          </a:xfrm>
        </p:grpSpPr>
        <p:pic>
          <p:nvPicPr>
            <p:cNvPr id="150" name="Picture 4" descr="images (225×225)">
              <a:extLst>
                <a:ext uri="{FF2B5EF4-FFF2-40B4-BE49-F238E27FC236}">
                  <a16:creationId xmlns:a16="http://schemas.microsoft.com/office/drawing/2014/main" id="{9183BB3E-DC73-446C-B5B2-221FDD75B1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531" y="4324813"/>
              <a:ext cx="467054" cy="467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9B9B8994-DC09-4F08-8BCF-F44322714EA5}"/>
                </a:ext>
              </a:extLst>
            </p:cNvPr>
            <p:cNvSpPr txBox="1"/>
            <p:nvPr/>
          </p:nvSpPr>
          <p:spPr>
            <a:xfrm>
              <a:off x="2784859" y="4773596"/>
              <a:ext cx="9641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>
                  <a:solidFill>
                    <a:schemeClr val="bg1"/>
                  </a:solidFill>
                </a:rPr>
                <a:t>AWS Lambda</a:t>
              </a:r>
              <a:endParaRPr lang="zh-TW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908F785C-DF8B-4C59-A6CD-A33565F3A973}"/>
              </a:ext>
            </a:extLst>
          </p:cNvPr>
          <p:cNvGrpSpPr/>
          <p:nvPr/>
        </p:nvGrpSpPr>
        <p:grpSpPr>
          <a:xfrm>
            <a:off x="5525531" y="5473607"/>
            <a:ext cx="821086" cy="693034"/>
            <a:chOff x="3923706" y="4326782"/>
            <a:chExt cx="821086" cy="693034"/>
          </a:xfrm>
        </p:grpSpPr>
        <p:pic>
          <p:nvPicPr>
            <p:cNvPr id="153" name="圖片 152">
              <a:extLst>
                <a:ext uri="{FF2B5EF4-FFF2-40B4-BE49-F238E27FC236}">
                  <a16:creationId xmlns:a16="http://schemas.microsoft.com/office/drawing/2014/main" id="{B0B7557C-D813-4A98-BF61-F909C0BAF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6073" y="4326782"/>
              <a:ext cx="468000" cy="468000"/>
            </a:xfrm>
            <a:prstGeom prst="rect">
              <a:avLst/>
            </a:prstGeom>
          </p:spPr>
        </p:pic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CD84B2AC-ACA2-4482-995C-2EE882DF1104}"/>
                </a:ext>
              </a:extLst>
            </p:cNvPr>
            <p:cNvSpPr txBox="1"/>
            <p:nvPr/>
          </p:nvSpPr>
          <p:spPr>
            <a:xfrm>
              <a:off x="3923706" y="4773595"/>
              <a:ext cx="82108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>
                  <a:solidFill>
                    <a:schemeClr val="bg1"/>
                  </a:solidFill>
                </a:rPr>
                <a:t>SaaS APIs</a:t>
              </a:r>
              <a:endParaRPr lang="zh-TW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5" name="群組 154">
            <a:extLst>
              <a:ext uri="{FF2B5EF4-FFF2-40B4-BE49-F238E27FC236}">
                <a16:creationId xmlns:a16="http://schemas.microsoft.com/office/drawing/2014/main" id="{C7618610-BEF7-46EB-8ECC-2CFEC6AA6C10}"/>
              </a:ext>
            </a:extLst>
          </p:cNvPr>
          <p:cNvGrpSpPr/>
          <p:nvPr/>
        </p:nvGrpSpPr>
        <p:grpSpPr>
          <a:xfrm>
            <a:off x="6556016" y="5471638"/>
            <a:ext cx="964182" cy="695003"/>
            <a:chOff x="4957943" y="4324813"/>
            <a:chExt cx="964182" cy="695003"/>
          </a:xfrm>
        </p:grpSpPr>
        <p:pic>
          <p:nvPicPr>
            <p:cNvPr id="156" name="圖片 155">
              <a:extLst>
                <a:ext uri="{FF2B5EF4-FFF2-40B4-BE49-F238E27FC236}">
                  <a16:creationId xmlns:a16="http://schemas.microsoft.com/office/drawing/2014/main" id="{54DB5CA3-F8F7-45E3-97B3-06B7B4B7E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192417" y="4324813"/>
              <a:ext cx="468000" cy="468000"/>
            </a:xfrm>
            <a:prstGeom prst="rect">
              <a:avLst/>
            </a:prstGeom>
          </p:spPr>
        </p:pic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85E09C1A-8EEC-4410-936F-1B02B7F7DC66}"/>
                </a:ext>
              </a:extLst>
            </p:cNvPr>
            <p:cNvSpPr txBox="1"/>
            <p:nvPr/>
          </p:nvSpPr>
          <p:spPr>
            <a:xfrm>
              <a:off x="4957943" y="4773595"/>
              <a:ext cx="9641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>
                  <a:solidFill>
                    <a:schemeClr val="bg1"/>
                  </a:solidFill>
                </a:rPr>
                <a:t>MCP Servers</a:t>
              </a:r>
              <a:endParaRPr lang="zh-TW" altLang="en-US" sz="1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58" name="接點: 肘形 157">
            <a:extLst>
              <a:ext uri="{FF2B5EF4-FFF2-40B4-BE49-F238E27FC236}">
                <a16:creationId xmlns:a16="http://schemas.microsoft.com/office/drawing/2014/main" id="{E440ED4C-26AA-46CB-B306-D3C64716FADD}"/>
              </a:ext>
            </a:extLst>
          </p:cNvPr>
          <p:cNvCxnSpPr>
            <a:stCxn id="150" idx="0"/>
            <a:endCxn id="156" idx="0"/>
          </p:cNvCxnSpPr>
          <p:nvPr/>
        </p:nvCxnSpPr>
        <p:spPr>
          <a:xfrm rot="5400000" flipH="1" flipV="1">
            <a:off x="5936310" y="4383459"/>
            <a:ext cx="12700" cy="2176359"/>
          </a:xfrm>
          <a:prstGeom prst="bentConnector3">
            <a:avLst>
              <a:gd name="adj1" fmla="val 2070000"/>
            </a:avLst>
          </a:prstGeom>
          <a:ln w="12700">
            <a:solidFill>
              <a:srgbClr val="457A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>
            <a:extLst>
              <a:ext uri="{FF2B5EF4-FFF2-40B4-BE49-F238E27FC236}">
                <a16:creationId xmlns:a16="http://schemas.microsoft.com/office/drawing/2014/main" id="{4A2C063A-0611-4145-A4F8-3CC487C643C4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5911898" y="4994646"/>
            <a:ext cx="0" cy="478961"/>
          </a:xfrm>
          <a:prstGeom prst="straightConnector1">
            <a:avLst/>
          </a:prstGeom>
          <a:ln w="12700">
            <a:solidFill>
              <a:srgbClr val="457A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4EBB4D6D-2791-4CD8-A75C-AD8C6D0A1154}"/>
              </a:ext>
            </a:extLst>
          </p:cNvPr>
          <p:cNvGrpSpPr/>
          <p:nvPr/>
        </p:nvGrpSpPr>
        <p:grpSpPr>
          <a:xfrm>
            <a:off x="7793430" y="3614987"/>
            <a:ext cx="775664" cy="397571"/>
            <a:chOff x="3455347" y="1216335"/>
            <a:chExt cx="775664" cy="397571"/>
          </a:xfrm>
        </p:grpSpPr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4B0747CC-7BA6-45DE-9AEF-9AC031FA8853}"/>
                </a:ext>
              </a:extLst>
            </p:cNvPr>
            <p:cNvSpPr txBox="1"/>
            <p:nvPr/>
          </p:nvSpPr>
          <p:spPr>
            <a:xfrm>
              <a:off x="3476733" y="1216335"/>
              <a:ext cx="75427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chemeClr val="bg1"/>
                  </a:solidFill>
                </a:rPr>
                <a:t>IAM Role</a:t>
              </a:r>
              <a:endParaRPr lang="zh-TW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66" name="文字方塊 165">
              <a:extLst>
                <a:ext uri="{FF2B5EF4-FFF2-40B4-BE49-F238E27FC236}">
                  <a16:creationId xmlns:a16="http://schemas.microsoft.com/office/drawing/2014/main" id="{0EDC2419-068F-4172-95F1-762E6161C075}"/>
                </a:ext>
              </a:extLst>
            </p:cNvPr>
            <p:cNvSpPr txBox="1"/>
            <p:nvPr/>
          </p:nvSpPr>
          <p:spPr>
            <a:xfrm>
              <a:off x="3455347" y="1367685"/>
              <a:ext cx="7542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>
                  <a:solidFill>
                    <a:schemeClr val="bg1"/>
                  </a:solidFill>
                </a:rPr>
                <a:t>(IAM </a:t>
              </a:r>
              <a:r>
                <a:rPr lang="zh-TW" altLang="en-US" sz="1000" dirty="0">
                  <a:solidFill>
                    <a:schemeClr val="bg1"/>
                  </a:solidFill>
                </a:rPr>
                <a:t>映射</a:t>
              </a:r>
              <a:r>
                <a:rPr lang="en-US" altLang="zh-TW" sz="1000" dirty="0">
                  <a:solidFill>
                    <a:schemeClr val="bg1"/>
                  </a:solidFill>
                </a:rPr>
                <a:t>)</a:t>
              </a:r>
              <a:endParaRPr lang="zh-TW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8" name="群組 167">
            <a:extLst>
              <a:ext uri="{FF2B5EF4-FFF2-40B4-BE49-F238E27FC236}">
                <a16:creationId xmlns:a16="http://schemas.microsoft.com/office/drawing/2014/main" id="{D0C8CB34-F0F7-4DC3-A40F-94F0BF819DA9}"/>
              </a:ext>
            </a:extLst>
          </p:cNvPr>
          <p:cNvGrpSpPr/>
          <p:nvPr/>
        </p:nvGrpSpPr>
        <p:grpSpPr>
          <a:xfrm>
            <a:off x="5304424" y="3869750"/>
            <a:ext cx="1188849" cy="487276"/>
            <a:chOff x="5430429" y="3275519"/>
            <a:chExt cx="1188849" cy="487276"/>
          </a:xfrm>
        </p:grpSpPr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B3846414-B17E-4524-9B68-4060FAA80F7E}"/>
                </a:ext>
              </a:extLst>
            </p:cNvPr>
            <p:cNvSpPr txBox="1"/>
            <p:nvPr/>
          </p:nvSpPr>
          <p:spPr>
            <a:xfrm>
              <a:off x="5462577" y="3275519"/>
              <a:ext cx="111787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1000" b="1" dirty="0">
                  <a:solidFill>
                    <a:schemeClr val="bg1"/>
                  </a:solidFill>
                </a:rPr>
                <a:t>設為唯一</a:t>
              </a:r>
              <a:r>
                <a:rPr lang="en-US" altLang="zh-TW" sz="1000" b="1" dirty="0">
                  <a:solidFill>
                    <a:schemeClr val="bg1"/>
                  </a:solidFill>
                </a:rPr>
                <a:t>Target</a:t>
              </a:r>
              <a:endParaRPr lang="zh-TW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70" name="文字方塊 169">
              <a:extLst>
                <a:ext uri="{FF2B5EF4-FFF2-40B4-BE49-F238E27FC236}">
                  <a16:creationId xmlns:a16="http://schemas.microsoft.com/office/drawing/2014/main" id="{E3BA68C7-62FB-4F72-817A-5CE37E79B140}"/>
                </a:ext>
              </a:extLst>
            </p:cNvPr>
            <p:cNvSpPr txBox="1"/>
            <p:nvPr/>
          </p:nvSpPr>
          <p:spPr>
            <a:xfrm>
              <a:off x="5430429" y="3516574"/>
              <a:ext cx="118884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>
                  <a:solidFill>
                    <a:schemeClr val="bg1"/>
                  </a:solidFill>
                </a:rPr>
                <a:t>(MCP </a:t>
              </a:r>
              <a:r>
                <a:rPr lang="zh-TW" altLang="en-US" sz="1000" dirty="0">
                  <a:solidFill>
                    <a:schemeClr val="bg1"/>
                  </a:solidFill>
                </a:rPr>
                <a:t>ˋ</a:t>
              </a:r>
              <a:r>
                <a:rPr lang="en-US" altLang="zh-TW" sz="1000" dirty="0" err="1">
                  <a:solidFill>
                    <a:schemeClr val="bg1"/>
                  </a:solidFill>
                </a:rPr>
                <a:t>list_tools</a:t>
              </a:r>
              <a:r>
                <a:rPr lang="zh-TW" altLang="en-US" sz="1000" dirty="0">
                  <a:solidFill>
                    <a:schemeClr val="bg1"/>
                  </a:solidFill>
                </a:rPr>
                <a:t> ˋ</a:t>
              </a:r>
              <a:r>
                <a:rPr lang="en-US" altLang="zh-TW" sz="1000" dirty="0">
                  <a:solidFill>
                    <a:schemeClr val="bg1"/>
                  </a:solidFill>
                </a:rPr>
                <a:t>)</a:t>
              </a:r>
              <a:endParaRPr lang="zh-TW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1" name="群組 170">
            <a:extLst>
              <a:ext uri="{FF2B5EF4-FFF2-40B4-BE49-F238E27FC236}">
                <a16:creationId xmlns:a16="http://schemas.microsoft.com/office/drawing/2014/main" id="{9138D0A4-9A64-493B-9355-00161973C6FE}"/>
              </a:ext>
            </a:extLst>
          </p:cNvPr>
          <p:cNvGrpSpPr/>
          <p:nvPr/>
        </p:nvGrpSpPr>
        <p:grpSpPr>
          <a:xfrm>
            <a:off x="4780372" y="4407315"/>
            <a:ext cx="2167657" cy="570037"/>
            <a:chOff x="3070936" y="3275518"/>
            <a:chExt cx="2167657" cy="570037"/>
          </a:xfrm>
        </p:grpSpPr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EC3DA329-6965-42DA-9A0D-8C3457D5B37E}"/>
                </a:ext>
              </a:extLst>
            </p:cNvPr>
            <p:cNvSpPr txBox="1"/>
            <p:nvPr/>
          </p:nvSpPr>
          <p:spPr>
            <a:xfrm>
              <a:off x="3271696" y="3275518"/>
              <a:ext cx="18792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chemeClr val="bg1"/>
                  </a:solidFill>
                </a:rPr>
                <a:t>digiRunner</a:t>
              </a:r>
              <a:r>
                <a:rPr lang="zh-TW" altLang="en-US" sz="1000" b="1" dirty="0">
                  <a:solidFill>
                    <a:schemeClr val="bg1"/>
                  </a:solidFill>
                </a:rPr>
                <a:t> </a:t>
              </a:r>
              <a:r>
                <a:rPr lang="en-US" altLang="zh-TW" sz="1000" b="1" dirty="0">
                  <a:solidFill>
                    <a:schemeClr val="bg1"/>
                  </a:solidFill>
                </a:rPr>
                <a:t>AI Gateway</a:t>
              </a:r>
              <a:endParaRPr lang="zh-TW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73" name="文字方塊 172">
              <a:extLst>
                <a:ext uri="{FF2B5EF4-FFF2-40B4-BE49-F238E27FC236}">
                  <a16:creationId xmlns:a16="http://schemas.microsoft.com/office/drawing/2014/main" id="{00981C1A-0296-40FF-BDFB-6971EA915A8A}"/>
                </a:ext>
              </a:extLst>
            </p:cNvPr>
            <p:cNvSpPr txBox="1"/>
            <p:nvPr/>
          </p:nvSpPr>
          <p:spPr>
            <a:xfrm>
              <a:off x="3070936" y="3445445"/>
              <a:ext cx="21676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>
                  <a:solidFill>
                    <a:schemeClr val="bg1"/>
                  </a:solidFill>
                </a:rPr>
                <a:t>(MCP Tool</a:t>
              </a:r>
              <a:r>
                <a:rPr lang="zh-TW" altLang="en-US" sz="1000" dirty="0">
                  <a:solidFill>
                    <a:schemeClr val="bg1"/>
                  </a:solidFill>
                </a:rPr>
                <a:t> </a:t>
              </a:r>
              <a:r>
                <a:rPr lang="en-US" altLang="zh-TW" sz="1000" dirty="0">
                  <a:solidFill>
                    <a:schemeClr val="bg1"/>
                  </a:solidFill>
                </a:rPr>
                <a:t>Provider,</a:t>
              </a:r>
              <a:r>
                <a:rPr lang="zh-TW" altLang="en-US" sz="1000" dirty="0">
                  <a:solidFill>
                    <a:schemeClr val="bg1"/>
                  </a:solidFill>
                </a:rPr>
                <a:t> </a:t>
              </a:r>
              <a:r>
                <a:rPr lang="en-US" altLang="zh-TW" sz="1000" dirty="0">
                  <a:solidFill>
                    <a:schemeClr val="bg1"/>
                  </a:solidFill>
                </a:rPr>
                <a:t>Target,</a:t>
              </a:r>
              <a:r>
                <a:rPr lang="zh-TW" altLang="en-US" sz="1000" dirty="0">
                  <a:solidFill>
                    <a:schemeClr val="bg1"/>
                  </a:solidFill>
                </a:rPr>
                <a:t> 治理層 計費治理、配額限制、</a:t>
              </a:r>
              <a:r>
                <a:rPr lang="en-US" altLang="zh-TW" sz="1000" dirty="0">
                  <a:solidFill>
                    <a:schemeClr val="bg1"/>
                  </a:solidFill>
                </a:rPr>
                <a:t>MCP</a:t>
              </a:r>
              <a:r>
                <a:rPr lang="zh-TW" altLang="en-US" sz="1000" dirty="0">
                  <a:solidFill>
                    <a:schemeClr val="bg1"/>
                  </a:solidFill>
                </a:rPr>
                <a:t>轉化</a:t>
              </a:r>
              <a:r>
                <a:rPr lang="en-US" altLang="zh-TW" sz="1000" dirty="0">
                  <a:solidFill>
                    <a:schemeClr val="bg1"/>
                  </a:solidFill>
                </a:rPr>
                <a:t>)</a:t>
              </a:r>
              <a:endParaRPr lang="zh-TW" altLang="en-US" sz="1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74" name="直線單箭頭接點 173">
            <a:extLst>
              <a:ext uri="{FF2B5EF4-FFF2-40B4-BE49-F238E27FC236}">
                <a16:creationId xmlns:a16="http://schemas.microsoft.com/office/drawing/2014/main" id="{CCDE379F-2C43-4B57-8511-DBC91DF38C69}"/>
              </a:ext>
            </a:extLst>
          </p:cNvPr>
          <p:cNvCxnSpPr>
            <a:cxnSpLocks/>
          </p:cNvCxnSpPr>
          <p:nvPr/>
        </p:nvCxnSpPr>
        <p:spPr>
          <a:xfrm>
            <a:off x="6548135" y="3665429"/>
            <a:ext cx="7492" cy="695374"/>
          </a:xfrm>
          <a:prstGeom prst="straightConnector1">
            <a:avLst/>
          </a:prstGeom>
          <a:ln w="12700">
            <a:solidFill>
              <a:srgbClr val="457A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單箭頭接點 174">
            <a:extLst>
              <a:ext uri="{FF2B5EF4-FFF2-40B4-BE49-F238E27FC236}">
                <a16:creationId xmlns:a16="http://schemas.microsoft.com/office/drawing/2014/main" id="{EC19D54A-745C-4B11-9F52-6DA24E655FC8}"/>
              </a:ext>
            </a:extLst>
          </p:cNvPr>
          <p:cNvCxnSpPr>
            <a:cxnSpLocks/>
          </p:cNvCxnSpPr>
          <p:nvPr/>
        </p:nvCxnSpPr>
        <p:spPr>
          <a:xfrm>
            <a:off x="6438410" y="3658842"/>
            <a:ext cx="0" cy="701961"/>
          </a:xfrm>
          <a:prstGeom prst="straightConnector1">
            <a:avLst/>
          </a:prstGeom>
          <a:ln w="12700">
            <a:solidFill>
              <a:srgbClr val="58974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008DDB57-67D5-4305-9C64-93B1F98B6240}"/>
              </a:ext>
            </a:extLst>
          </p:cNvPr>
          <p:cNvGrpSpPr/>
          <p:nvPr/>
        </p:nvGrpSpPr>
        <p:grpSpPr>
          <a:xfrm>
            <a:off x="6548135" y="3699071"/>
            <a:ext cx="1228785" cy="397571"/>
            <a:chOff x="3455347" y="1216335"/>
            <a:chExt cx="1228785" cy="397571"/>
          </a:xfrm>
        </p:grpSpPr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15DCF9D1-FE91-4CAF-BBA3-FADC649287DD}"/>
                </a:ext>
              </a:extLst>
            </p:cNvPr>
            <p:cNvSpPr txBox="1"/>
            <p:nvPr/>
          </p:nvSpPr>
          <p:spPr>
            <a:xfrm>
              <a:off x="3476732" y="1216335"/>
              <a:ext cx="96090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>
                  <a:solidFill>
                    <a:schemeClr val="bg1"/>
                  </a:solidFill>
                </a:rPr>
                <a:t>AI Gateway</a:t>
              </a:r>
              <a:endParaRPr lang="zh-TW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178" name="文字方塊 177">
              <a:extLst>
                <a:ext uri="{FF2B5EF4-FFF2-40B4-BE49-F238E27FC236}">
                  <a16:creationId xmlns:a16="http://schemas.microsoft.com/office/drawing/2014/main" id="{A28A285A-9788-421F-92C6-C89B3D6E8AFC}"/>
                </a:ext>
              </a:extLst>
            </p:cNvPr>
            <p:cNvSpPr txBox="1"/>
            <p:nvPr/>
          </p:nvSpPr>
          <p:spPr>
            <a:xfrm>
              <a:off x="3455347" y="1367685"/>
              <a:ext cx="122878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>
                  <a:solidFill>
                    <a:schemeClr val="bg1"/>
                  </a:solidFill>
                </a:rPr>
                <a:t>(MCP </a:t>
              </a:r>
              <a:r>
                <a:rPr lang="zh-TW" altLang="en-US" sz="1000" dirty="0">
                  <a:solidFill>
                    <a:schemeClr val="bg1"/>
                  </a:solidFill>
                </a:rPr>
                <a:t>ˋ</a:t>
              </a:r>
              <a:r>
                <a:rPr lang="en-US" altLang="zh-TW" sz="1000" dirty="0" err="1">
                  <a:solidFill>
                    <a:schemeClr val="bg1"/>
                  </a:solidFill>
                </a:rPr>
                <a:t>call_tool</a:t>
              </a:r>
              <a:r>
                <a:rPr lang="zh-TW" altLang="en-US" sz="1000" dirty="0">
                  <a:solidFill>
                    <a:schemeClr val="bg1"/>
                  </a:solidFill>
                </a:rPr>
                <a:t> ˋ</a:t>
              </a:r>
              <a:r>
                <a:rPr lang="en-US" altLang="zh-TW" sz="1000" dirty="0">
                  <a:solidFill>
                    <a:schemeClr val="bg1"/>
                  </a:solidFill>
                </a:rPr>
                <a:t>)</a:t>
              </a:r>
              <a:endParaRPr lang="zh-TW" altLang="en-US" sz="1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79" name="直線單箭頭接點 178">
            <a:extLst>
              <a:ext uri="{FF2B5EF4-FFF2-40B4-BE49-F238E27FC236}">
                <a16:creationId xmlns:a16="http://schemas.microsoft.com/office/drawing/2014/main" id="{C37F9F88-1444-4B34-8578-8CE733339133}"/>
              </a:ext>
            </a:extLst>
          </p:cNvPr>
          <p:cNvCxnSpPr>
            <a:cxnSpLocks/>
            <a:stCxn id="134" idx="1"/>
            <a:endCxn id="133" idx="3"/>
          </p:cNvCxnSpPr>
          <p:nvPr/>
        </p:nvCxnSpPr>
        <p:spPr>
          <a:xfrm flipH="1">
            <a:off x="8099616" y="3420503"/>
            <a:ext cx="136923" cy="0"/>
          </a:xfrm>
          <a:prstGeom prst="straightConnector1">
            <a:avLst/>
          </a:prstGeom>
          <a:ln w="12700">
            <a:solidFill>
              <a:srgbClr val="CC8A2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字方塊 179">
            <a:extLst>
              <a:ext uri="{FF2B5EF4-FFF2-40B4-BE49-F238E27FC236}">
                <a16:creationId xmlns:a16="http://schemas.microsoft.com/office/drawing/2014/main" id="{EB49D791-485C-4CEF-BABA-48970D149FC3}"/>
              </a:ext>
            </a:extLst>
          </p:cNvPr>
          <p:cNvSpPr txBox="1"/>
          <p:nvPr/>
        </p:nvSpPr>
        <p:spPr>
          <a:xfrm>
            <a:off x="8537363" y="3682796"/>
            <a:ext cx="1510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zh-TW" dirty="0">
                <a:solidFill>
                  <a:schemeClr val="bg1"/>
                </a:solidFill>
              </a:rPr>
              <a:t>(Cedar policy </a:t>
            </a:r>
            <a:r>
              <a:rPr lang="zh-TW" altLang="en-US" dirty="0">
                <a:solidFill>
                  <a:schemeClr val="bg1"/>
                </a:solidFill>
              </a:rPr>
              <a:t>強制執行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based on Cedar)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6DD747F5-4766-4387-9B6F-2FC8A03EFB56}"/>
              </a:ext>
            </a:extLst>
          </p:cNvPr>
          <p:cNvSpPr txBox="1"/>
          <p:nvPr/>
        </p:nvSpPr>
        <p:spPr>
          <a:xfrm>
            <a:off x="5413813" y="3688835"/>
            <a:ext cx="9524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b="1" dirty="0">
                <a:solidFill>
                  <a:schemeClr val="bg1"/>
                </a:solidFill>
              </a:rPr>
              <a:t>工具動態發現</a:t>
            </a:r>
          </a:p>
        </p:txBody>
      </p:sp>
      <p:cxnSp>
        <p:nvCxnSpPr>
          <p:cNvPr id="182" name="接點: 肘形 181">
            <a:extLst>
              <a:ext uri="{FF2B5EF4-FFF2-40B4-BE49-F238E27FC236}">
                <a16:creationId xmlns:a16="http://schemas.microsoft.com/office/drawing/2014/main" id="{B2C05942-5C2D-4B0E-A74A-E6B8741122CD}"/>
              </a:ext>
            </a:extLst>
          </p:cNvPr>
          <p:cNvCxnSpPr>
            <a:cxnSpLocks/>
            <a:stCxn id="139" idx="2"/>
            <a:endCxn id="134" idx="0"/>
          </p:cNvCxnSpPr>
          <p:nvPr/>
        </p:nvCxnSpPr>
        <p:spPr>
          <a:xfrm rot="16200000" flipH="1">
            <a:off x="7075398" y="1042605"/>
            <a:ext cx="448352" cy="3830763"/>
          </a:xfrm>
          <a:prstGeom prst="bentConnector3">
            <a:avLst>
              <a:gd name="adj1" fmla="val 50000"/>
            </a:avLst>
          </a:prstGeom>
          <a:ln>
            <a:solidFill>
              <a:srgbClr val="CC8A24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字方塊 182">
            <a:extLst>
              <a:ext uri="{FF2B5EF4-FFF2-40B4-BE49-F238E27FC236}">
                <a16:creationId xmlns:a16="http://schemas.microsoft.com/office/drawing/2014/main" id="{01190FD2-300C-4A9F-AD15-B24F30D37697}"/>
              </a:ext>
            </a:extLst>
          </p:cNvPr>
          <p:cNvSpPr txBox="1"/>
          <p:nvPr/>
        </p:nvSpPr>
        <p:spPr>
          <a:xfrm>
            <a:off x="4196212" y="2680202"/>
            <a:ext cx="5465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zh-TW" dirty="0">
                <a:solidFill>
                  <a:schemeClr val="bg1"/>
                </a:solidFill>
              </a:rPr>
              <a:t>Agent</a:t>
            </a:r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184" name="群組 183">
            <a:extLst>
              <a:ext uri="{FF2B5EF4-FFF2-40B4-BE49-F238E27FC236}">
                <a16:creationId xmlns:a16="http://schemas.microsoft.com/office/drawing/2014/main" id="{44AB9290-9473-4748-9F85-CD42095AD7B3}"/>
              </a:ext>
            </a:extLst>
          </p:cNvPr>
          <p:cNvGrpSpPr/>
          <p:nvPr/>
        </p:nvGrpSpPr>
        <p:grpSpPr>
          <a:xfrm>
            <a:off x="8721710" y="3203980"/>
            <a:ext cx="1471663" cy="431550"/>
            <a:chOff x="3070937" y="3260116"/>
            <a:chExt cx="1471663" cy="431550"/>
          </a:xfrm>
        </p:grpSpPr>
        <p:sp>
          <p:nvSpPr>
            <p:cNvPr id="185" name="文字方塊 184">
              <a:extLst>
                <a:ext uri="{FF2B5EF4-FFF2-40B4-BE49-F238E27FC236}">
                  <a16:creationId xmlns:a16="http://schemas.microsoft.com/office/drawing/2014/main" id="{9B81D3EB-CC1D-428B-9949-5B64C74A1E92}"/>
                </a:ext>
              </a:extLst>
            </p:cNvPr>
            <p:cNvSpPr txBox="1"/>
            <p:nvPr/>
          </p:nvSpPr>
          <p:spPr>
            <a:xfrm>
              <a:off x="3085670" y="3260116"/>
              <a:ext cx="145693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100" b="1" dirty="0" err="1"/>
                <a:t>AgentCore</a:t>
              </a:r>
              <a:r>
                <a:rPr lang="en-US" altLang="zh-TW" sz="1100" b="1" dirty="0"/>
                <a:t> Identity</a:t>
              </a:r>
              <a:endParaRPr lang="zh-TW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6" name="文字方塊 185">
              <a:extLst>
                <a:ext uri="{FF2B5EF4-FFF2-40B4-BE49-F238E27FC236}">
                  <a16:creationId xmlns:a16="http://schemas.microsoft.com/office/drawing/2014/main" id="{3FC7D65E-9C07-4148-A8EC-2A29B9D4B34F}"/>
                </a:ext>
              </a:extLst>
            </p:cNvPr>
            <p:cNvSpPr txBox="1"/>
            <p:nvPr/>
          </p:nvSpPr>
          <p:spPr>
            <a:xfrm>
              <a:off x="3070937" y="3445445"/>
              <a:ext cx="12899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1000" dirty="0"/>
                <a:t>基於</a:t>
              </a:r>
              <a:r>
                <a:rPr lang="en-US" altLang="zh-TW" sz="1000" dirty="0"/>
                <a:t>Cedar</a:t>
              </a:r>
              <a:r>
                <a:rPr lang="zh-TW" altLang="en-US" sz="1000" dirty="0"/>
                <a:t>的守門員</a:t>
              </a:r>
              <a:endParaRPr lang="zh-TW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87" name="群組 186">
            <a:extLst>
              <a:ext uri="{FF2B5EF4-FFF2-40B4-BE49-F238E27FC236}">
                <a16:creationId xmlns:a16="http://schemas.microsoft.com/office/drawing/2014/main" id="{9F0C85CB-EE1E-4F95-A404-F748076D8FC5}"/>
              </a:ext>
            </a:extLst>
          </p:cNvPr>
          <p:cNvGrpSpPr/>
          <p:nvPr/>
        </p:nvGrpSpPr>
        <p:grpSpPr>
          <a:xfrm>
            <a:off x="6555627" y="3204219"/>
            <a:ext cx="1558641" cy="431550"/>
            <a:chOff x="3070937" y="3260116"/>
            <a:chExt cx="1558641" cy="431550"/>
          </a:xfrm>
        </p:grpSpPr>
        <p:sp>
          <p:nvSpPr>
            <p:cNvPr id="188" name="文字方塊 187">
              <a:extLst>
                <a:ext uri="{FF2B5EF4-FFF2-40B4-BE49-F238E27FC236}">
                  <a16:creationId xmlns:a16="http://schemas.microsoft.com/office/drawing/2014/main" id="{02B21173-5B7B-4020-9B25-31C8D6D1173B}"/>
                </a:ext>
              </a:extLst>
            </p:cNvPr>
            <p:cNvSpPr txBox="1"/>
            <p:nvPr/>
          </p:nvSpPr>
          <p:spPr>
            <a:xfrm>
              <a:off x="3085670" y="3260116"/>
              <a:ext cx="154390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100" b="1" dirty="0" err="1"/>
                <a:t>AgentCore</a:t>
              </a:r>
              <a:r>
                <a:rPr lang="en-US" altLang="zh-TW" sz="1100" b="1" dirty="0"/>
                <a:t> Gateway</a:t>
              </a:r>
              <a:endParaRPr lang="zh-TW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9" name="文字方塊 188">
              <a:extLst>
                <a:ext uri="{FF2B5EF4-FFF2-40B4-BE49-F238E27FC236}">
                  <a16:creationId xmlns:a16="http://schemas.microsoft.com/office/drawing/2014/main" id="{1F26EAAE-750E-4F9A-AEA0-64339C05505D}"/>
                </a:ext>
              </a:extLst>
            </p:cNvPr>
            <p:cNvSpPr txBox="1"/>
            <p:nvPr/>
          </p:nvSpPr>
          <p:spPr>
            <a:xfrm>
              <a:off x="3070937" y="3445445"/>
              <a:ext cx="12899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/>
                <a:t>Client </a:t>
              </a:r>
              <a:r>
                <a:rPr lang="zh-TW" altLang="en-US" sz="1000" dirty="0"/>
                <a:t>工具聚合器</a:t>
              </a:r>
              <a:endParaRPr lang="zh-TW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90" name="群組 189">
            <a:extLst>
              <a:ext uri="{FF2B5EF4-FFF2-40B4-BE49-F238E27FC236}">
                <a16:creationId xmlns:a16="http://schemas.microsoft.com/office/drawing/2014/main" id="{3CB069F2-7B24-47E5-9647-AC531950B4F6}"/>
              </a:ext>
            </a:extLst>
          </p:cNvPr>
          <p:cNvGrpSpPr/>
          <p:nvPr/>
        </p:nvGrpSpPr>
        <p:grpSpPr>
          <a:xfrm>
            <a:off x="4385718" y="3215082"/>
            <a:ext cx="1533759" cy="431550"/>
            <a:chOff x="3070937" y="3260116"/>
            <a:chExt cx="1533759" cy="431550"/>
          </a:xfrm>
        </p:grpSpPr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9C3F6266-3D7C-4FDB-9311-3B223242CD38}"/>
                </a:ext>
              </a:extLst>
            </p:cNvPr>
            <p:cNvSpPr txBox="1"/>
            <p:nvPr/>
          </p:nvSpPr>
          <p:spPr>
            <a:xfrm>
              <a:off x="3085670" y="3260116"/>
              <a:ext cx="151902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100" b="1" dirty="0" err="1"/>
                <a:t>AgentCore</a:t>
              </a:r>
              <a:r>
                <a:rPr lang="en-US" altLang="zh-TW" sz="1100" b="1" dirty="0"/>
                <a:t> Runtime</a:t>
              </a:r>
              <a:endParaRPr lang="zh-TW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3019F758-9965-4B3E-89A8-8B778F12F77B}"/>
                </a:ext>
              </a:extLst>
            </p:cNvPr>
            <p:cNvSpPr txBox="1"/>
            <p:nvPr/>
          </p:nvSpPr>
          <p:spPr>
            <a:xfrm>
              <a:off x="3070937" y="3445445"/>
              <a:ext cx="12899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/>
                <a:t>Agent"</a:t>
              </a:r>
              <a:r>
                <a:rPr lang="zh-TW" altLang="en-US" sz="1000" dirty="0"/>
                <a:t>住”的地方</a:t>
              </a:r>
              <a:endParaRPr lang="zh-TW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pic>
        <p:nvPicPr>
          <p:cNvPr id="193" name="圖片 192">
            <a:extLst>
              <a:ext uri="{FF2B5EF4-FFF2-40B4-BE49-F238E27FC236}">
                <a16:creationId xmlns:a16="http://schemas.microsoft.com/office/drawing/2014/main" id="{6441B6B0-871A-4A1A-A410-E0757B0111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971" y="2106211"/>
            <a:ext cx="330561" cy="330561"/>
          </a:xfrm>
          <a:prstGeom prst="rect">
            <a:avLst/>
          </a:prstGeom>
        </p:spPr>
      </p:pic>
      <p:pic>
        <p:nvPicPr>
          <p:cNvPr id="194" name="圖片 193">
            <a:extLst>
              <a:ext uri="{FF2B5EF4-FFF2-40B4-BE49-F238E27FC236}">
                <a16:creationId xmlns:a16="http://schemas.microsoft.com/office/drawing/2014/main" id="{C154303E-DBB5-4064-8B22-CD27B16EF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3116" y="2008506"/>
            <a:ext cx="381000" cy="381000"/>
          </a:xfrm>
          <a:prstGeom prst="rect">
            <a:avLst/>
          </a:prstGeom>
        </p:spPr>
      </p:pic>
      <p:pic>
        <p:nvPicPr>
          <p:cNvPr id="195" name="圖片 194">
            <a:extLst>
              <a:ext uri="{FF2B5EF4-FFF2-40B4-BE49-F238E27FC236}">
                <a16:creationId xmlns:a16="http://schemas.microsoft.com/office/drawing/2014/main" id="{50D7FDB8-89E8-4856-AA18-E1A1AEC80A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9880" y="3227350"/>
            <a:ext cx="392400" cy="392400"/>
          </a:xfrm>
          <a:prstGeom prst="rect">
            <a:avLst/>
          </a:prstGeom>
        </p:spPr>
      </p:pic>
      <p:pic>
        <p:nvPicPr>
          <p:cNvPr id="196" name="圖片 195">
            <a:extLst>
              <a:ext uri="{FF2B5EF4-FFF2-40B4-BE49-F238E27FC236}">
                <a16:creationId xmlns:a16="http://schemas.microsoft.com/office/drawing/2014/main" id="{8CC6F1B2-3AFB-492D-9EE3-DD084CE216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1604" y="3217824"/>
            <a:ext cx="392400" cy="392400"/>
          </a:xfrm>
          <a:prstGeom prst="rect">
            <a:avLst/>
          </a:prstGeom>
        </p:spPr>
      </p:pic>
      <p:pic>
        <p:nvPicPr>
          <p:cNvPr id="198" name="圖片 197">
            <a:extLst>
              <a:ext uri="{FF2B5EF4-FFF2-40B4-BE49-F238E27FC236}">
                <a16:creationId xmlns:a16="http://schemas.microsoft.com/office/drawing/2014/main" id="{E70CB0F3-19B7-4B59-9260-F0D3E6AE98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3955" y="3222587"/>
            <a:ext cx="392400" cy="392400"/>
          </a:xfrm>
          <a:prstGeom prst="rect">
            <a:avLst/>
          </a:prstGeom>
        </p:spPr>
      </p:pic>
      <p:cxnSp>
        <p:nvCxnSpPr>
          <p:cNvPr id="199" name="直線單箭頭接點 198">
            <a:extLst>
              <a:ext uri="{FF2B5EF4-FFF2-40B4-BE49-F238E27FC236}">
                <a16:creationId xmlns:a16="http://schemas.microsoft.com/office/drawing/2014/main" id="{2D36A678-82AD-4376-B3F8-FC98D4E8B32C}"/>
              </a:ext>
            </a:extLst>
          </p:cNvPr>
          <p:cNvCxnSpPr>
            <a:cxnSpLocks/>
            <a:stCxn id="132" idx="3"/>
            <a:endCxn id="133" idx="1"/>
          </p:cNvCxnSpPr>
          <p:nvPr/>
        </p:nvCxnSpPr>
        <p:spPr>
          <a:xfrm flipV="1">
            <a:off x="5911897" y="3420503"/>
            <a:ext cx="136923" cy="6587"/>
          </a:xfrm>
          <a:prstGeom prst="straightConnector1">
            <a:avLst/>
          </a:prstGeom>
          <a:ln w="12700">
            <a:solidFill>
              <a:srgbClr val="457A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群組 199">
            <a:extLst>
              <a:ext uri="{FF2B5EF4-FFF2-40B4-BE49-F238E27FC236}">
                <a16:creationId xmlns:a16="http://schemas.microsoft.com/office/drawing/2014/main" id="{0FF838B7-DB21-42F1-A817-871FA529B2B6}"/>
              </a:ext>
            </a:extLst>
          </p:cNvPr>
          <p:cNvGrpSpPr/>
          <p:nvPr/>
        </p:nvGrpSpPr>
        <p:grpSpPr>
          <a:xfrm>
            <a:off x="9243590" y="2789155"/>
            <a:ext cx="1228785" cy="397571"/>
            <a:chOff x="3455347" y="1216335"/>
            <a:chExt cx="1228785" cy="397571"/>
          </a:xfrm>
        </p:grpSpPr>
        <p:sp>
          <p:nvSpPr>
            <p:cNvPr id="201" name="文字方塊 200">
              <a:extLst>
                <a:ext uri="{FF2B5EF4-FFF2-40B4-BE49-F238E27FC236}">
                  <a16:creationId xmlns:a16="http://schemas.microsoft.com/office/drawing/2014/main" id="{F6379C86-7256-4D4A-9CC5-D0C4128D098B}"/>
                </a:ext>
              </a:extLst>
            </p:cNvPr>
            <p:cNvSpPr txBox="1"/>
            <p:nvPr/>
          </p:nvSpPr>
          <p:spPr>
            <a:xfrm>
              <a:off x="3476732" y="1216335"/>
              <a:ext cx="96090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b="1" dirty="0"/>
                <a:t>Cedar policy</a:t>
              </a:r>
              <a:endParaRPr lang="zh-TW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2" name="文字方塊 201">
              <a:extLst>
                <a:ext uri="{FF2B5EF4-FFF2-40B4-BE49-F238E27FC236}">
                  <a16:creationId xmlns:a16="http://schemas.microsoft.com/office/drawing/2014/main" id="{A41A1F18-81AE-4770-87BD-C321D7C8127A}"/>
                </a:ext>
              </a:extLst>
            </p:cNvPr>
            <p:cNvSpPr txBox="1"/>
            <p:nvPr/>
          </p:nvSpPr>
          <p:spPr>
            <a:xfrm>
              <a:off x="3455347" y="1367685"/>
              <a:ext cx="122878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000" dirty="0"/>
                <a:t>(</a:t>
              </a:r>
              <a:r>
                <a:rPr lang="zh-TW" altLang="en-US" sz="1000" dirty="0"/>
                <a:t>建立專屬身分</a:t>
              </a:r>
              <a:r>
                <a:rPr lang="en-US" altLang="zh-TW" sz="1000" dirty="0"/>
                <a:t>)</a:t>
              </a:r>
              <a:endParaRPr lang="zh-TW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pic>
        <p:nvPicPr>
          <p:cNvPr id="205" name="圖片 204">
            <a:extLst>
              <a:ext uri="{FF2B5EF4-FFF2-40B4-BE49-F238E27FC236}">
                <a16:creationId xmlns:a16="http://schemas.microsoft.com/office/drawing/2014/main" id="{A56BFDED-F646-45BD-BF2A-DACC84833A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35739" y="4417487"/>
            <a:ext cx="581788" cy="544021"/>
          </a:xfrm>
          <a:prstGeom prst="rect">
            <a:avLst/>
          </a:prstGeom>
        </p:spPr>
      </p:pic>
      <p:cxnSp>
        <p:nvCxnSpPr>
          <p:cNvPr id="197" name="直線單箭頭接點 196">
            <a:extLst>
              <a:ext uri="{FF2B5EF4-FFF2-40B4-BE49-F238E27FC236}">
                <a16:creationId xmlns:a16="http://schemas.microsoft.com/office/drawing/2014/main" id="{3A6DC24C-8E96-4C90-90D8-785443DD72D3}"/>
              </a:ext>
            </a:extLst>
          </p:cNvPr>
          <p:cNvCxnSpPr>
            <a:cxnSpLocks/>
          </p:cNvCxnSpPr>
          <p:nvPr/>
        </p:nvCxnSpPr>
        <p:spPr>
          <a:xfrm>
            <a:off x="5136857" y="2702504"/>
            <a:ext cx="0" cy="484222"/>
          </a:xfrm>
          <a:prstGeom prst="straightConnector1">
            <a:avLst/>
          </a:prstGeom>
          <a:ln w="12700">
            <a:solidFill>
              <a:srgbClr val="58974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單箭頭接點 203">
            <a:extLst>
              <a:ext uri="{FF2B5EF4-FFF2-40B4-BE49-F238E27FC236}">
                <a16:creationId xmlns:a16="http://schemas.microsoft.com/office/drawing/2014/main" id="{3499AF4A-AAF7-4539-B41A-E749B324D26E}"/>
              </a:ext>
            </a:extLst>
          </p:cNvPr>
          <p:cNvCxnSpPr>
            <a:cxnSpLocks/>
            <a:stCxn id="136" idx="2"/>
          </p:cNvCxnSpPr>
          <p:nvPr/>
        </p:nvCxnSpPr>
        <p:spPr>
          <a:xfrm>
            <a:off x="3884314" y="2724539"/>
            <a:ext cx="0" cy="1636264"/>
          </a:xfrm>
          <a:prstGeom prst="straightConnector1">
            <a:avLst/>
          </a:prstGeom>
          <a:ln w="12700">
            <a:solidFill>
              <a:srgbClr val="457A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文字方塊 205">
            <a:extLst>
              <a:ext uri="{FF2B5EF4-FFF2-40B4-BE49-F238E27FC236}">
                <a16:creationId xmlns:a16="http://schemas.microsoft.com/office/drawing/2014/main" id="{95C169E6-5A5F-4892-9FA9-2F78BB1BF9C5}"/>
              </a:ext>
            </a:extLst>
          </p:cNvPr>
          <p:cNvSpPr txBox="1"/>
          <p:nvPr/>
        </p:nvSpPr>
        <p:spPr>
          <a:xfrm>
            <a:off x="5053486" y="5202818"/>
            <a:ext cx="7952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/>
              <a:t>Real Tools</a:t>
            </a:r>
            <a:endParaRPr lang="zh-TW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7" name="直線單箭頭接點 206">
            <a:extLst>
              <a:ext uri="{FF2B5EF4-FFF2-40B4-BE49-F238E27FC236}">
                <a16:creationId xmlns:a16="http://schemas.microsoft.com/office/drawing/2014/main" id="{5811F146-E450-4C59-8BA8-01DA707C3E89}"/>
              </a:ext>
            </a:extLst>
          </p:cNvPr>
          <p:cNvCxnSpPr>
            <a:cxnSpLocks/>
          </p:cNvCxnSpPr>
          <p:nvPr/>
        </p:nvCxnSpPr>
        <p:spPr>
          <a:xfrm flipV="1">
            <a:off x="4654584" y="3671721"/>
            <a:ext cx="4880" cy="696793"/>
          </a:xfrm>
          <a:prstGeom prst="straightConnector1">
            <a:avLst/>
          </a:prstGeom>
          <a:ln w="9525" cap="flat" cmpd="sng" algn="ctr">
            <a:solidFill>
              <a:srgbClr val="0070C0"/>
            </a:solidFill>
            <a:prstDash val="solid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8" name="文字方塊 207">
            <a:extLst>
              <a:ext uri="{FF2B5EF4-FFF2-40B4-BE49-F238E27FC236}">
                <a16:creationId xmlns:a16="http://schemas.microsoft.com/office/drawing/2014/main" id="{0584960B-8471-4481-B918-628314323F04}"/>
              </a:ext>
            </a:extLst>
          </p:cNvPr>
          <p:cNvSpPr txBox="1"/>
          <p:nvPr/>
        </p:nvSpPr>
        <p:spPr>
          <a:xfrm>
            <a:off x="4602436" y="3850421"/>
            <a:ext cx="4514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/>
              <a:t>A2A</a:t>
            </a:r>
            <a:endParaRPr lang="zh-TW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6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4587"/>
            <a:ext cx="3530649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0749" y="2414587"/>
            <a:ext cx="3530649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9999" y="2414587"/>
            <a:ext cx="3530649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885825" y="3414712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一、模板配置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85825" y="39671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定義基礎模型 (Claude 3.5)、系統提示詞、Skill Manifest 能力清單與資源規格。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645074" y="3414712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二、身分與撥配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645074" y="39671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建立 Tenant Context，分配專屬身分 (Identity) 並透過 IaC 自動啟動專屬 Runtime 實例。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404324" y="3414712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三、路由註冊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404324" y="3967162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將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AgentID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對接到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Runtime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Endpoint，完成AI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Gateway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的動態路由註冊與綁定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dirty="0"/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5825" y="277653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765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04324" y="27765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Agent </a:t>
            </a:r>
            <a:r>
              <a:rPr lang="en-US" sz="3300" b="1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上架</a:t>
            </a:r>
            <a:r>
              <a:rPr lang="en-US" sz="33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Marketplace </a:t>
            </a:r>
            <a:r>
              <a:rPr lang="en-US" sz="3300" b="1" i="0" u="none" strike="noStrike" cap="none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三部曲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FB51-5740-47CB-A1CB-69DC4304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Agent</a:t>
            </a:r>
            <a:r>
              <a:rPr lang="zh-TW" altLang="en-US" dirty="0"/>
              <a:t>上架</a:t>
            </a:r>
            <a:r>
              <a:rPr lang="en-US" altLang="zh-TW" dirty="0"/>
              <a:t>Marketplace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E67E3B-7877-4A77-AE01-09706D2C4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0835178" cy="4555200"/>
          </a:xfrm>
        </p:spPr>
        <p:txBody>
          <a:bodyPr/>
          <a:lstStyle/>
          <a:p>
            <a:pPr marL="76200" indent="0">
              <a:buNone/>
            </a:pPr>
            <a:r>
              <a:rPr lang="zh-TW" altLang="en-US" b="1" dirty="0">
                <a:solidFill>
                  <a:schemeClr val="tx1"/>
                </a:solidFill>
              </a:rPr>
              <a:t>一、</a:t>
            </a:r>
            <a:r>
              <a:rPr lang="en-US" altLang="zh-TW" b="1" dirty="0">
                <a:solidFill>
                  <a:schemeClr val="tx1"/>
                </a:solidFill>
              </a:rPr>
              <a:t>Agent</a:t>
            </a:r>
            <a:r>
              <a:rPr lang="zh-TW" altLang="en-US" b="1" dirty="0">
                <a:solidFill>
                  <a:schemeClr val="tx1"/>
                </a:solidFill>
              </a:rPr>
              <a:t>模版配置</a:t>
            </a:r>
            <a:endParaRPr lang="en-US" altLang="zh-TW" b="1" dirty="0">
              <a:solidFill>
                <a:schemeClr val="tx1"/>
              </a:solidFill>
            </a:endParaRPr>
          </a:p>
          <a:p>
            <a:pPr lvl="1"/>
            <a:r>
              <a:rPr lang="en-US" altLang="zh-TW" b="1" dirty="0">
                <a:solidFill>
                  <a:schemeClr val="tx1"/>
                </a:solidFill>
              </a:rPr>
              <a:t>Agent </a:t>
            </a:r>
            <a:r>
              <a:rPr lang="zh-TW" altLang="en-US" b="1" dirty="0">
                <a:solidFill>
                  <a:schemeClr val="tx1"/>
                </a:solidFill>
              </a:rPr>
              <a:t>設定檔</a:t>
            </a:r>
            <a:r>
              <a:rPr lang="zh-TW" altLang="en-US" dirty="0"/>
              <a:t>：定義該 </a:t>
            </a:r>
            <a:r>
              <a:rPr lang="en-US" altLang="zh-TW" dirty="0"/>
              <a:t>Agent </a:t>
            </a:r>
            <a:r>
              <a:rPr lang="zh-TW" altLang="en-US" dirty="0"/>
              <a:t>預設使用的 </a:t>
            </a:r>
            <a:r>
              <a:rPr lang="en-US" altLang="zh-TW" dirty="0"/>
              <a:t>Foundation Model</a:t>
            </a:r>
            <a:r>
              <a:rPr lang="zh-TW" altLang="en-US" dirty="0"/>
              <a:t>（如 </a:t>
            </a:r>
            <a:r>
              <a:rPr lang="en-US" altLang="zh-TW" dirty="0"/>
              <a:t>Claude 3.5 Sonnet</a:t>
            </a:r>
            <a:r>
              <a:rPr lang="zh-TW" altLang="en-US" dirty="0"/>
              <a:t>）與系統提示詞（</a:t>
            </a:r>
            <a:r>
              <a:rPr lang="en-US" altLang="zh-TW" dirty="0"/>
              <a:t>System Prompt</a:t>
            </a:r>
            <a:r>
              <a:rPr lang="zh-TW" altLang="en-US" dirty="0"/>
              <a:t>）。</a:t>
            </a:r>
          </a:p>
          <a:p>
            <a:pPr lvl="1"/>
            <a:r>
              <a:rPr lang="zh-TW" altLang="en-US" b="1" dirty="0">
                <a:solidFill>
                  <a:schemeClr val="tx1"/>
                </a:solidFill>
              </a:rPr>
              <a:t>能力清單 </a:t>
            </a:r>
            <a:r>
              <a:rPr lang="en-US" altLang="zh-TW" b="1" dirty="0">
                <a:solidFill>
                  <a:schemeClr val="tx1"/>
                </a:solidFill>
              </a:rPr>
              <a:t>(Skill Manifest)</a:t>
            </a:r>
            <a:r>
              <a:rPr lang="zh-TW" altLang="en-US" dirty="0"/>
              <a:t>：條列該 </a:t>
            </a:r>
            <a:r>
              <a:rPr lang="en-US" altLang="zh-TW" dirty="0"/>
              <a:t>Agent </a:t>
            </a:r>
            <a:r>
              <a:rPr lang="zh-TW" altLang="en-US" dirty="0"/>
              <a:t>支援哪些 </a:t>
            </a:r>
            <a:r>
              <a:rPr lang="en-US" altLang="zh-TW" dirty="0"/>
              <a:t>MCP Tools</a:t>
            </a:r>
            <a:r>
              <a:rPr lang="zh-TW" altLang="en-US" dirty="0"/>
              <a:t>。這些工具在 </a:t>
            </a:r>
            <a:r>
              <a:rPr lang="en-US" altLang="zh-TW" dirty="0"/>
              <a:t>Marketplace </a:t>
            </a:r>
            <a:r>
              <a:rPr lang="zh-TW" altLang="en-US" dirty="0"/>
              <a:t>中可以作為「選配組件」。</a:t>
            </a:r>
          </a:p>
          <a:p>
            <a:pPr lvl="1"/>
            <a:r>
              <a:rPr lang="zh-TW" altLang="en-US" b="1" dirty="0">
                <a:solidFill>
                  <a:schemeClr val="tx1"/>
                </a:solidFill>
              </a:rPr>
              <a:t>資源清單 </a:t>
            </a:r>
            <a:r>
              <a:rPr lang="en-US" altLang="zh-TW" b="1" dirty="0">
                <a:solidFill>
                  <a:schemeClr val="tx1"/>
                </a:solidFill>
              </a:rPr>
              <a:t>(Resource Specs)</a:t>
            </a:r>
            <a:r>
              <a:rPr lang="zh-TW" altLang="en-US" dirty="0"/>
              <a:t>：預定義所需的 </a:t>
            </a:r>
            <a:r>
              <a:rPr lang="en-US" altLang="zh-TW" dirty="0" err="1"/>
              <a:t>AgentCore</a:t>
            </a:r>
            <a:r>
              <a:rPr lang="en-US" altLang="zh-TW" dirty="0"/>
              <a:t> Runtime </a:t>
            </a:r>
            <a:r>
              <a:rPr lang="zh-TW" altLang="en-US" dirty="0"/>
              <a:t>規格（例如併發數限制）。</a:t>
            </a:r>
          </a:p>
        </p:txBody>
      </p:sp>
    </p:spTree>
    <p:extLst>
      <p:ext uri="{BB962C8B-B14F-4D97-AF65-F5344CB8AC3E}">
        <p14:creationId xmlns:p14="http://schemas.microsoft.com/office/powerpoint/2010/main" val="3877026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FB51-5740-47CB-A1CB-69DC4304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Agent</a:t>
            </a:r>
            <a:r>
              <a:rPr lang="zh-TW" altLang="en-US" dirty="0"/>
              <a:t>上架</a:t>
            </a:r>
            <a:r>
              <a:rPr lang="en-US" altLang="zh-TW" dirty="0"/>
              <a:t>Marketplace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E67E3B-7877-4A77-AE01-09706D2C4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zh-TW" altLang="en-US" b="1" dirty="0">
                <a:solidFill>
                  <a:schemeClr val="tx1"/>
                </a:solidFill>
              </a:rPr>
              <a:t>二、</a:t>
            </a:r>
            <a:r>
              <a:rPr lang="en-US" altLang="zh-TW" b="1" dirty="0">
                <a:solidFill>
                  <a:schemeClr val="tx1"/>
                </a:solidFill>
              </a:rPr>
              <a:t>Agent</a:t>
            </a:r>
            <a:r>
              <a:rPr lang="zh-TW" altLang="en-US" b="1" dirty="0">
                <a:solidFill>
                  <a:schemeClr val="tx1"/>
                </a:solidFill>
              </a:rPr>
              <a:t>啟用</a:t>
            </a:r>
            <a:endParaRPr lang="en-US" altLang="zh-TW" b="1" dirty="0">
              <a:solidFill>
                <a:schemeClr val="tx1"/>
              </a:solidFill>
            </a:endParaRPr>
          </a:p>
          <a:p>
            <a:pPr lvl="1"/>
            <a:r>
              <a:rPr lang="zh-TW" altLang="en-US" b="1" dirty="0">
                <a:solidFill>
                  <a:schemeClr val="tx1"/>
                </a:solidFill>
              </a:rPr>
              <a:t>第一階段：身份與空間初始化</a:t>
            </a:r>
          </a:p>
          <a:p>
            <a:pPr marL="1479550" lvl="2" indent="-457200">
              <a:buFont typeface="+mj-lt"/>
              <a:buAutoNum type="arabicPeriod"/>
            </a:pPr>
            <a:r>
              <a:rPr lang="zh-TW" altLang="en-US" dirty="0"/>
              <a:t>建立 </a:t>
            </a:r>
            <a:r>
              <a:rPr lang="en-US" altLang="zh-TW" dirty="0"/>
              <a:t>Tenant Context</a:t>
            </a:r>
            <a:r>
              <a:rPr lang="zh-TW" altLang="en-US" dirty="0"/>
              <a:t>：在你的資料庫中為該用戶生成一個唯一的 </a:t>
            </a:r>
            <a:r>
              <a:rPr lang="en-US" altLang="zh-TW" dirty="0" err="1"/>
              <a:t>TenantID</a:t>
            </a:r>
            <a:r>
              <a:rPr lang="zh-TW" altLang="en-US" dirty="0"/>
              <a:t>。</a:t>
            </a:r>
          </a:p>
          <a:p>
            <a:pPr marL="1479550" lvl="2" indent="-457200">
              <a:buFont typeface="+mj-lt"/>
              <a:buAutoNum type="arabicPeriod"/>
            </a:pPr>
            <a:r>
              <a:rPr lang="zh-TW" altLang="en-US" dirty="0"/>
              <a:t>分配 </a:t>
            </a:r>
            <a:r>
              <a:rPr lang="en-US" altLang="zh-TW" dirty="0" err="1"/>
              <a:t>AgentCore</a:t>
            </a:r>
            <a:r>
              <a:rPr lang="en-US" altLang="zh-TW" dirty="0"/>
              <a:t> Identity</a:t>
            </a:r>
            <a:r>
              <a:rPr lang="zh-TW" altLang="en-US" dirty="0"/>
              <a:t>：透過 </a:t>
            </a:r>
            <a:r>
              <a:rPr lang="en-US" altLang="zh-TW" dirty="0"/>
              <a:t>API </a:t>
            </a:r>
            <a:r>
              <a:rPr lang="zh-TW" altLang="en-US" dirty="0"/>
              <a:t>建立一個專屬於該用戶的 </a:t>
            </a:r>
            <a:r>
              <a:rPr lang="en-US" altLang="zh-TW" dirty="0"/>
              <a:t>Agent Identity</a:t>
            </a:r>
            <a:r>
              <a:rPr lang="zh-TW" altLang="en-US" dirty="0"/>
              <a:t>。這確保了該 </a:t>
            </a:r>
            <a:r>
              <a:rPr lang="en-US" altLang="zh-TW" dirty="0"/>
              <a:t>Agent </a:t>
            </a:r>
            <a:r>
              <a:rPr lang="zh-TW" altLang="en-US" dirty="0"/>
              <a:t>只能訪問該用戶授權的資源。</a:t>
            </a:r>
          </a:p>
          <a:p>
            <a:pPr lvl="1"/>
            <a:r>
              <a:rPr lang="zh-TW" altLang="en-US" b="1" dirty="0">
                <a:solidFill>
                  <a:schemeClr val="tx1"/>
                </a:solidFill>
              </a:rPr>
              <a:t>第二階段：資源撥配 </a:t>
            </a:r>
            <a:r>
              <a:rPr lang="en-US" altLang="zh-TW" dirty="0">
                <a:solidFill>
                  <a:schemeClr val="tx1"/>
                </a:solidFill>
              </a:rPr>
              <a:t>(Infrastructure as Code)</a:t>
            </a:r>
          </a:p>
          <a:p>
            <a:pPr marL="1022350" lvl="2" indent="0">
              <a:buNone/>
            </a:pPr>
            <a:r>
              <a:rPr lang="zh-TW" altLang="en-US" dirty="0">
                <a:solidFill>
                  <a:schemeClr val="tx1"/>
                </a:solidFill>
              </a:rPr>
              <a:t>利用 </a:t>
            </a:r>
            <a:r>
              <a:rPr lang="en-US" altLang="zh-TW" dirty="0">
                <a:solidFill>
                  <a:schemeClr val="tx1"/>
                </a:solidFill>
              </a:rPr>
              <a:t>AWS CDK </a:t>
            </a:r>
            <a:r>
              <a:rPr lang="zh-TW" altLang="en-US" dirty="0">
                <a:solidFill>
                  <a:schemeClr val="tx1"/>
                </a:solidFill>
              </a:rPr>
              <a:t>或 </a:t>
            </a:r>
            <a:r>
              <a:rPr lang="en-US" altLang="zh-TW" dirty="0">
                <a:solidFill>
                  <a:schemeClr val="tx1"/>
                </a:solidFill>
              </a:rPr>
              <a:t>CloudFormation </a:t>
            </a:r>
            <a:r>
              <a:rPr lang="zh-TW" altLang="en-US" dirty="0">
                <a:solidFill>
                  <a:schemeClr val="tx1"/>
                </a:solidFill>
              </a:rPr>
              <a:t>自動化這個過程：</a:t>
            </a:r>
          </a:p>
          <a:p>
            <a:pPr marL="1479550" lvl="2" indent="-457200">
              <a:lnSpc>
                <a:spcPct val="125000"/>
              </a:lnSpc>
              <a:buFont typeface="+mj-lt"/>
              <a:buAutoNum type="arabicPeriod"/>
            </a:pPr>
            <a:r>
              <a:rPr lang="en-US" altLang="zh-TW" dirty="0"/>
              <a:t>Runtime </a:t>
            </a:r>
            <a:r>
              <a:rPr lang="zh-TW" altLang="en-US" dirty="0"/>
              <a:t>部署：為用戶啟動一個專屬的 </a:t>
            </a:r>
            <a:r>
              <a:rPr lang="en-US" altLang="zh-TW" dirty="0" err="1"/>
              <a:t>AgentCore</a:t>
            </a:r>
            <a:r>
              <a:rPr lang="en-US" altLang="zh-TW" dirty="0"/>
              <a:t> Runtime </a:t>
            </a:r>
            <a:r>
              <a:rPr lang="zh-TW" altLang="en-US" dirty="0"/>
              <a:t>實例（或是在共享集群中劃分邏輯隔離）。</a:t>
            </a:r>
          </a:p>
          <a:p>
            <a:pPr marL="1479550" lvl="2" indent="-457200">
              <a:lnSpc>
                <a:spcPct val="125000"/>
              </a:lnSpc>
              <a:buFont typeface="+mj-lt"/>
              <a:buAutoNum type="arabicPeriod"/>
            </a:pPr>
            <a:r>
              <a:rPr lang="en-US" altLang="zh-TW" dirty="0"/>
              <a:t>Memory </a:t>
            </a:r>
            <a:r>
              <a:rPr lang="zh-TW" altLang="en-US" dirty="0"/>
              <a:t>初始化：調用 </a:t>
            </a:r>
            <a:r>
              <a:rPr lang="en-US" altLang="zh-TW" dirty="0" err="1"/>
              <a:t>CreateMemory</a:t>
            </a:r>
            <a:r>
              <a:rPr lang="en-US" altLang="zh-TW" dirty="0"/>
              <a:t> API</a:t>
            </a:r>
            <a:r>
              <a:rPr lang="zh-TW" altLang="en-US" dirty="0"/>
              <a:t>，為該 </a:t>
            </a:r>
            <a:r>
              <a:rPr lang="en-US" altLang="zh-TW" dirty="0"/>
              <a:t>Agent </a:t>
            </a:r>
            <a:r>
              <a:rPr lang="zh-TW" altLang="en-US" dirty="0"/>
              <a:t>建立獨立的對話記憶體庫。</a:t>
            </a:r>
          </a:p>
          <a:p>
            <a:pPr lvl="1"/>
            <a:r>
              <a:rPr lang="zh-TW" altLang="en-US" b="1" dirty="0">
                <a:solidFill>
                  <a:schemeClr val="tx1"/>
                </a:solidFill>
              </a:rPr>
              <a:t>第三階段：</a:t>
            </a:r>
            <a:r>
              <a:rPr lang="en-US" altLang="zh-TW" b="1" dirty="0">
                <a:solidFill>
                  <a:schemeClr val="tx1"/>
                </a:solidFill>
              </a:rPr>
              <a:t>AI Gateway </a:t>
            </a:r>
            <a:r>
              <a:rPr lang="zh-TW" altLang="en-US" b="1" dirty="0">
                <a:solidFill>
                  <a:schemeClr val="tx1"/>
                </a:solidFill>
              </a:rPr>
              <a:t>路由註冊</a:t>
            </a:r>
          </a:p>
          <a:p>
            <a:pPr marL="1479550" lvl="2" indent="-457200">
              <a:lnSpc>
                <a:spcPct val="135000"/>
              </a:lnSpc>
              <a:buFont typeface="+mj-lt"/>
              <a:buAutoNum type="arabicPeriod"/>
            </a:pPr>
            <a:r>
              <a:rPr lang="en-US" altLang="zh-TW" dirty="0"/>
              <a:t>API </a:t>
            </a:r>
            <a:r>
              <a:rPr lang="zh-TW" altLang="en-US" dirty="0"/>
              <a:t>註冊：在 </a:t>
            </a:r>
            <a:r>
              <a:rPr lang="en-US" altLang="zh-TW" dirty="0"/>
              <a:t>AI Gateway </a:t>
            </a:r>
            <a:r>
              <a:rPr lang="zh-TW" altLang="en-US" dirty="0"/>
              <a:t>中新增一條路由規則，將用戶的 </a:t>
            </a:r>
            <a:r>
              <a:rPr lang="en-US" altLang="zh-TW" dirty="0" err="1"/>
              <a:t>AgentID</a:t>
            </a:r>
            <a:r>
              <a:rPr lang="en-US" altLang="zh-TW" dirty="0"/>
              <a:t> </a:t>
            </a:r>
            <a:r>
              <a:rPr lang="zh-TW" altLang="en-US" dirty="0"/>
              <a:t>對接到剛建立好的 </a:t>
            </a:r>
            <a:r>
              <a:rPr lang="en-US" altLang="zh-TW" dirty="0" err="1"/>
              <a:t>AgentCore</a:t>
            </a:r>
            <a:r>
              <a:rPr lang="en-US" altLang="zh-TW" dirty="0"/>
              <a:t> Runtime Endpoint</a:t>
            </a:r>
            <a:r>
              <a:rPr lang="zh-TW" altLang="en-US" dirty="0"/>
              <a:t>。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6994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FB51-5740-47CB-A1CB-69DC4304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Agent</a:t>
            </a:r>
            <a:r>
              <a:rPr lang="zh-TW" altLang="en-US" dirty="0"/>
              <a:t>上架</a:t>
            </a:r>
            <a:r>
              <a:rPr lang="en-US" altLang="zh-TW" dirty="0"/>
              <a:t>Marketplace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E67E3B-7877-4A77-AE01-09706D2C4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zh-TW" altLang="en-US" b="1" dirty="0">
                <a:solidFill>
                  <a:schemeClr val="tx1"/>
                </a:solidFill>
              </a:rPr>
              <a:t>三、工具與 </a:t>
            </a:r>
            <a:r>
              <a:rPr lang="en-US" altLang="zh-TW" b="1" dirty="0">
                <a:solidFill>
                  <a:schemeClr val="tx1"/>
                </a:solidFill>
              </a:rPr>
              <a:t>MCP </a:t>
            </a:r>
            <a:r>
              <a:rPr lang="zh-TW" altLang="en-US" b="1" dirty="0">
                <a:solidFill>
                  <a:schemeClr val="tx1"/>
                </a:solidFill>
              </a:rPr>
              <a:t>的動態綁定 </a:t>
            </a:r>
            <a:r>
              <a:rPr lang="en-US" altLang="zh-TW" b="1" dirty="0">
                <a:solidFill>
                  <a:schemeClr val="tx1"/>
                </a:solidFill>
              </a:rPr>
              <a:t>(Dynamic Binding)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b="1" dirty="0" err="1">
                <a:solidFill>
                  <a:schemeClr val="tx1"/>
                </a:solidFill>
              </a:rPr>
              <a:t>AgentCore</a:t>
            </a:r>
            <a:r>
              <a:rPr lang="en-US" altLang="zh-TW" b="1" dirty="0">
                <a:solidFill>
                  <a:schemeClr val="tx1"/>
                </a:solidFill>
              </a:rPr>
              <a:t> Gateway Target </a:t>
            </a:r>
            <a:r>
              <a:rPr lang="zh-TW" altLang="en-US" b="1" dirty="0">
                <a:solidFill>
                  <a:schemeClr val="tx1"/>
                </a:solidFill>
              </a:rPr>
              <a:t>註冊：</a:t>
            </a:r>
          </a:p>
          <a:p>
            <a:pPr lvl="2"/>
            <a:r>
              <a:rPr lang="zh-TW" altLang="en-US" dirty="0"/>
              <a:t>使用 </a:t>
            </a:r>
            <a:r>
              <a:rPr lang="en-US" altLang="zh-TW" dirty="0" err="1"/>
              <a:t>CreateGatewayTarget</a:t>
            </a:r>
            <a:r>
              <a:rPr lang="en-US" altLang="zh-TW" dirty="0"/>
              <a:t> </a:t>
            </a:r>
            <a:r>
              <a:rPr lang="zh-TW" altLang="en-US" dirty="0"/>
              <a:t>將 </a:t>
            </a:r>
            <a:r>
              <a:rPr lang="en-US" altLang="zh-TW" dirty="0"/>
              <a:t>Marketplace </a:t>
            </a:r>
            <a:r>
              <a:rPr lang="zh-TW" altLang="en-US" dirty="0"/>
              <a:t>提供的 </a:t>
            </a:r>
            <a:r>
              <a:rPr lang="en-US" altLang="zh-TW" dirty="0"/>
              <a:t>MCP Server </a:t>
            </a:r>
            <a:r>
              <a:rPr lang="zh-TW" altLang="en-US" dirty="0"/>
              <a:t>地址註冊到該用戶的 </a:t>
            </a:r>
            <a:r>
              <a:rPr lang="en-US" altLang="zh-TW" dirty="0" err="1"/>
              <a:t>AgentCore</a:t>
            </a:r>
            <a:r>
              <a:rPr lang="en-US" altLang="zh-TW" dirty="0"/>
              <a:t> Gateway</a:t>
            </a:r>
            <a:r>
              <a:rPr lang="zh-TW" altLang="en-US" dirty="0"/>
              <a:t>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b="1" dirty="0" err="1">
                <a:solidFill>
                  <a:schemeClr val="tx1"/>
                </a:solidFill>
              </a:rPr>
              <a:t>AgentCore</a:t>
            </a:r>
            <a:r>
              <a:rPr lang="en-US" altLang="zh-TW" b="1" dirty="0">
                <a:solidFill>
                  <a:schemeClr val="tx1"/>
                </a:solidFill>
              </a:rPr>
              <a:t> Policy </a:t>
            </a:r>
            <a:r>
              <a:rPr lang="zh-TW" altLang="en-US" b="1" dirty="0">
                <a:solidFill>
                  <a:schemeClr val="tx1"/>
                </a:solidFill>
              </a:rPr>
              <a:t>授權：</a:t>
            </a:r>
          </a:p>
          <a:p>
            <a:pPr lvl="2"/>
            <a:r>
              <a:rPr lang="zh-TW" altLang="en-US" dirty="0"/>
              <a:t>利用 </a:t>
            </a:r>
            <a:r>
              <a:rPr lang="en-US" altLang="zh-TW" dirty="0" err="1"/>
              <a:t>AgentCore</a:t>
            </a:r>
            <a:r>
              <a:rPr lang="en-US" altLang="zh-TW" dirty="0"/>
              <a:t> Policy (</a:t>
            </a:r>
            <a:r>
              <a:rPr lang="zh-TW" altLang="en-US" dirty="0"/>
              <a:t>基於 </a:t>
            </a:r>
            <a:r>
              <a:rPr lang="en-US" altLang="zh-TW" dirty="0"/>
              <a:t>Cedar </a:t>
            </a:r>
            <a:r>
              <a:rPr lang="zh-TW" altLang="en-US" dirty="0"/>
              <a:t>語言</a:t>
            </a:r>
            <a:r>
              <a:rPr lang="en-US" altLang="zh-TW" dirty="0"/>
              <a:t>) </a:t>
            </a:r>
            <a:r>
              <a:rPr lang="zh-TW" altLang="en-US" dirty="0"/>
              <a:t>自動生成存取控制策略。</a:t>
            </a:r>
          </a:p>
          <a:p>
            <a:pPr lvl="2"/>
            <a:r>
              <a:rPr lang="zh-TW" altLang="en-US" dirty="0"/>
              <a:t>例如：</a:t>
            </a:r>
            <a:r>
              <a:rPr lang="en-US" altLang="zh-TW" dirty="0"/>
              <a:t>permit(principal == </a:t>
            </a:r>
            <a:r>
              <a:rPr lang="en-US" altLang="zh-TW" dirty="0" err="1"/>
              <a:t>UserAgent</a:t>
            </a:r>
            <a:r>
              <a:rPr lang="en-US" altLang="zh-TW" dirty="0"/>
              <a:t>, action == "use", resource == </a:t>
            </a:r>
            <a:r>
              <a:rPr lang="en-US" altLang="zh-TW" dirty="0" err="1"/>
              <a:t>FinanceMCPTool</a:t>
            </a:r>
            <a:r>
              <a:rPr lang="en-US" altLang="zh-TW" dirty="0"/>
              <a:t>);</a:t>
            </a:r>
          </a:p>
          <a:p>
            <a:pPr marL="1022350" lvl="1" indent="-457200">
              <a:buFont typeface="+mj-lt"/>
              <a:buAutoNum type="arabicPeriod"/>
            </a:pPr>
            <a:r>
              <a:rPr lang="zh-TW" altLang="en-US" b="1" dirty="0">
                <a:solidFill>
                  <a:schemeClr val="tx1"/>
                </a:solidFill>
              </a:rPr>
              <a:t>金鑰注入：</a:t>
            </a:r>
          </a:p>
          <a:p>
            <a:pPr lvl="2"/>
            <a:r>
              <a:rPr lang="zh-TW" altLang="en-US" dirty="0"/>
              <a:t>如果工具需要 </a:t>
            </a:r>
            <a:r>
              <a:rPr lang="en-US" altLang="zh-TW" dirty="0"/>
              <a:t>API Key</a:t>
            </a:r>
            <a:r>
              <a:rPr lang="zh-TW" altLang="en-US" dirty="0"/>
              <a:t>，透過 </a:t>
            </a:r>
            <a:r>
              <a:rPr lang="en-US" altLang="zh-TW" dirty="0" err="1"/>
              <a:t>AgentCore</a:t>
            </a:r>
            <a:r>
              <a:rPr lang="en-US" altLang="zh-TW" dirty="0"/>
              <a:t> Identity </a:t>
            </a:r>
            <a:r>
              <a:rPr lang="zh-TW" altLang="en-US" dirty="0"/>
              <a:t>的 </a:t>
            </a:r>
            <a:r>
              <a:rPr lang="en-US" altLang="zh-TW" dirty="0"/>
              <a:t>Token Vault </a:t>
            </a:r>
            <a:r>
              <a:rPr lang="zh-TW" altLang="en-US" dirty="0"/>
              <a:t>安全地將憑證注入，</a:t>
            </a:r>
            <a:r>
              <a:rPr lang="en-US" altLang="zh-TW" dirty="0"/>
              <a:t>Agent </a:t>
            </a:r>
            <a:r>
              <a:rPr lang="zh-TW" altLang="en-US" dirty="0"/>
              <a:t>運行時會自動帶上這些憑證，但用戶與 </a:t>
            </a:r>
            <a:r>
              <a:rPr lang="en-US" altLang="zh-TW" dirty="0"/>
              <a:t>Agent </a:t>
            </a:r>
            <a:r>
              <a:rPr lang="zh-TW" altLang="en-US" dirty="0"/>
              <a:t>程式碼都看不到明文。</a:t>
            </a:r>
          </a:p>
        </p:txBody>
      </p:sp>
    </p:spTree>
    <p:extLst>
      <p:ext uri="{BB962C8B-B14F-4D97-AF65-F5344CB8AC3E}">
        <p14:creationId xmlns:p14="http://schemas.microsoft.com/office/powerpoint/2010/main" val="164206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9A7B54-02C2-4CA1-A018-5EEA9F53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用戶與</a:t>
            </a:r>
            <a:r>
              <a:rPr lang="en-US" altLang="zh-TW" dirty="0">
                <a:solidFill>
                  <a:schemeClr val="tx1"/>
                </a:solidFill>
              </a:rPr>
              <a:t>Agent</a:t>
            </a:r>
            <a:r>
              <a:rPr lang="zh-TW" altLang="en-US" dirty="0">
                <a:solidFill>
                  <a:schemeClr val="tx1"/>
                </a:solidFill>
              </a:rPr>
              <a:t>對話流程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8D61D-DA0B-42DF-B2BA-A449676E4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964" y="1356867"/>
            <a:ext cx="10959336" cy="5366222"/>
          </a:xfrm>
        </p:spPr>
        <p:txBody>
          <a:bodyPr>
            <a:normAutofit fontScale="85000" lnSpcReduction="10000"/>
          </a:bodyPr>
          <a:lstStyle/>
          <a:p>
            <a:pPr marL="76200" indent="0">
              <a:buNone/>
            </a:pPr>
            <a:r>
              <a:rPr lang="zh-TW" altLang="en-US" dirty="0"/>
              <a:t>當用戶與 </a:t>
            </a:r>
            <a:r>
              <a:rPr lang="en-US" altLang="zh-TW" dirty="0"/>
              <a:t>Marketplace </a:t>
            </a:r>
            <a:r>
              <a:rPr lang="zh-TW" altLang="en-US" dirty="0"/>
              <a:t>的 </a:t>
            </a:r>
            <a:r>
              <a:rPr lang="en-US" altLang="zh-TW" dirty="0"/>
              <a:t>Agent </a:t>
            </a:r>
            <a:r>
              <a:rPr lang="zh-TW" altLang="en-US" dirty="0"/>
              <a:t>對話時：</a:t>
            </a:r>
          </a:p>
          <a:p>
            <a:pPr marL="76200" indent="0">
              <a:buNone/>
            </a:pPr>
            <a:r>
              <a:rPr lang="zh-TW" altLang="en-US" b="1" dirty="0">
                <a:solidFill>
                  <a:schemeClr val="tx1"/>
                </a:solidFill>
              </a:rPr>
              <a:t>第一階段：用戶請求與閘道檢核</a:t>
            </a:r>
          </a:p>
          <a:p>
            <a:pPr marL="1022350" lvl="1" indent="-457200"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</a:rPr>
              <a:t>用戶輸入</a:t>
            </a:r>
            <a:r>
              <a:rPr lang="zh-TW" altLang="en-US" dirty="0"/>
              <a:t>：用戶發送：「幫我查詢這筆訂單狀態。」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AI Gateway (</a:t>
            </a:r>
            <a:r>
              <a:rPr lang="zh-TW" altLang="en-US" dirty="0">
                <a:solidFill>
                  <a:schemeClr val="tx1"/>
                </a:solidFill>
              </a:rPr>
              <a:t>初核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/>
              <a:t>：</a:t>
            </a:r>
          </a:p>
          <a:p>
            <a:pPr lvl="2"/>
            <a:r>
              <a:rPr lang="en-US" altLang="zh-TW" dirty="0"/>
              <a:t>Safety &amp; Guardrails</a:t>
            </a:r>
            <a:r>
              <a:rPr lang="zh-TW" altLang="en-US" dirty="0"/>
              <a:t>：過濾敏感資訊或惡意指令（如 </a:t>
            </a:r>
            <a:r>
              <a:rPr lang="en-US" altLang="zh-TW" dirty="0"/>
              <a:t>Prompt Injection</a:t>
            </a:r>
            <a:r>
              <a:rPr lang="zh-TW" altLang="en-US" dirty="0"/>
              <a:t>）。</a:t>
            </a:r>
          </a:p>
          <a:p>
            <a:pPr lvl="2"/>
            <a:r>
              <a:rPr lang="en-US" altLang="zh-TW" dirty="0"/>
              <a:t>Billing (</a:t>
            </a:r>
            <a:r>
              <a:rPr lang="zh-TW" altLang="en-US" dirty="0"/>
              <a:t>預扣</a:t>
            </a:r>
            <a:r>
              <a:rPr lang="en-US" altLang="zh-TW" dirty="0"/>
              <a:t>)</a:t>
            </a:r>
            <a:r>
              <a:rPr lang="zh-TW" altLang="en-US" dirty="0"/>
              <a:t>：確認用戶錢包餘額是否足以支付本次推理與後續工具呼叫。</a:t>
            </a:r>
          </a:p>
          <a:p>
            <a:pPr lvl="2"/>
            <a:r>
              <a:rPr lang="en-US" altLang="zh-TW" dirty="0"/>
              <a:t>Auth</a:t>
            </a:r>
            <a:r>
              <a:rPr lang="zh-TW" altLang="en-US" dirty="0"/>
              <a:t>：驗證用戶身分與 </a:t>
            </a:r>
            <a:r>
              <a:rPr lang="en-US" altLang="zh-TW" dirty="0"/>
              <a:t>Agent </a:t>
            </a:r>
            <a:r>
              <a:rPr lang="zh-TW" altLang="en-US" dirty="0"/>
              <a:t>的合法連結。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dirty="0" err="1">
                <a:solidFill>
                  <a:schemeClr val="tx1"/>
                </a:solidFill>
              </a:rPr>
              <a:t>AgentCore</a:t>
            </a:r>
            <a:r>
              <a:rPr lang="en-US" altLang="zh-TW" dirty="0">
                <a:solidFill>
                  <a:schemeClr val="tx1"/>
                </a:solidFill>
              </a:rPr>
              <a:t> Runtime</a:t>
            </a:r>
            <a:r>
              <a:rPr lang="zh-TW" altLang="en-US" dirty="0"/>
              <a:t>：接收經過檢核的請求，根據語境與工具定義，判斷需要執行 </a:t>
            </a:r>
            <a:r>
              <a:rPr lang="en-US" altLang="zh-TW" dirty="0" err="1"/>
              <a:t>GetOrderStatus</a:t>
            </a:r>
            <a:r>
              <a:rPr lang="en-US" altLang="zh-TW" dirty="0"/>
              <a:t> </a:t>
            </a:r>
            <a:r>
              <a:rPr lang="zh-TW" altLang="en-US" dirty="0"/>
              <a:t>工具。</a:t>
            </a:r>
          </a:p>
          <a:p>
            <a:pPr marL="76200" indent="0">
              <a:buNone/>
            </a:pPr>
            <a:r>
              <a:rPr lang="zh-TW" altLang="en-US" b="1" dirty="0">
                <a:solidFill>
                  <a:schemeClr val="tx1"/>
                </a:solidFill>
              </a:rPr>
              <a:t>第二階段：工具路由與後端執行</a:t>
            </a:r>
          </a:p>
          <a:p>
            <a:pPr marL="1022350" lvl="1" indent="-457200">
              <a:buFont typeface="+mj-lt"/>
              <a:buAutoNum type="arabicPeriod" startAt="4"/>
            </a:pPr>
            <a:r>
              <a:rPr lang="en-US" altLang="zh-TW" dirty="0" err="1">
                <a:solidFill>
                  <a:schemeClr val="tx1"/>
                </a:solidFill>
              </a:rPr>
              <a:t>AgentCore</a:t>
            </a:r>
            <a:r>
              <a:rPr lang="en-US" altLang="zh-TW" dirty="0">
                <a:solidFill>
                  <a:schemeClr val="tx1"/>
                </a:solidFill>
              </a:rPr>
              <a:t> Gateway</a:t>
            </a:r>
            <a:r>
              <a:rPr lang="zh-TW" altLang="en-US" dirty="0"/>
              <a:t>：查詢 </a:t>
            </a:r>
            <a:r>
              <a:rPr lang="en-US" altLang="zh-TW" dirty="0"/>
              <a:t>Target </a:t>
            </a:r>
            <a:r>
              <a:rPr lang="zh-TW" altLang="en-US" dirty="0"/>
              <a:t>清單，發現該工具位於 </a:t>
            </a:r>
            <a:r>
              <a:rPr lang="en-US" altLang="zh-TW" dirty="0"/>
              <a:t>AI Gateway</a:t>
            </a:r>
            <a:r>
              <a:rPr lang="zh-TW" altLang="en-US" dirty="0"/>
              <a:t>。</a:t>
            </a:r>
          </a:p>
          <a:p>
            <a:pPr marL="1022350" lvl="1" indent="-457200">
              <a:buFont typeface="+mj-lt"/>
              <a:buAutoNum type="arabicPeriod" startAt="5"/>
            </a:pPr>
            <a:r>
              <a:rPr lang="en-US" altLang="zh-TW" dirty="0">
                <a:solidFill>
                  <a:schemeClr val="tx1"/>
                </a:solidFill>
              </a:rPr>
              <a:t>AI Gateway (</a:t>
            </a:r>
            <a:r>
              <a:rPr lang="zh-TW" altLang="en-US" dirty="0">
                <a:solidFill>
                  <a:schemeClr val="tx1"/>
                </a:solidFill>
              </a:rPr>
              <a:t>路由與授權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/>
              <a:t>：</a:t>
            </a:r>
          </a:p>
          <a:p>
            <a:pPr lvl="2"/>
            <a:r>
              <a:rPr lang="en-US" altLang="zh-TW" dirty="0"/>
              <a:t>Auth (</a:t>
            </a:r>
            <a:r>
              <a:rPr lang="zh-TW" altLang="en-US" dirty="0"/>
              <a:t>工具級</a:t>
            </a:r>
            <a:r>
              <a:rPr lang="en-US" altLang="zh-TW" dirty="0"/>
              <a:t>)</a:t>
            </a:r>
            <a:r>
              <a:rPr lang="zh-TW" altLang="en-US" dirty="0"/>
              <a:t>：確認該 </a:t>
            </a:r>
            <a:r>
              <a:rPr lang="en-US" altLang="zh-TW" dirty="0" err="1"/>
              <a:t>AgentID</a:t>
            </a:r>
            <a:r>
              <a:rPr lang="en-US" altLang="zh-TW" dirty="0"/>
              <a:t> </a:t>
            </a:r>
            <a:r>
              <a:rPr lang="zh-TW" altLang="en-US" dirty="0"/>
              <a:t>是否具備調用 </a:t>
            </a:r>
            <a:r>
              <a:rPr lang="en-US" altLang="zh-TW" dirty="0"/>
              <a:t>Order </a:t>
            </a:r>
            <a:r>
              <a:rPr lang="zh-TW" altLang="en-US" dirty="0"/>
              <a:t>領域工具的權限。</a:t>
            </a:r>
          </a:p>
          <a:p>
            <a:pPr lvl="2"/>
            <a:r>
              <a:rPr lang="en-US" altLang="zh-TW" dirty="0"/>
              <a:t>Routing</a:t>
            </a:r>
            <a:r>
              <a:rPr lang="zh-TW" altLang="en-US" dirty="0"/>
              <a:t>：根據路由規則，將請求精準轉發給後端的 </a:t>
            </a:r>
            <a:r>
              <a:rPr lang="en-US" altLang="zh-TW" dirty="0"/>
              <a:t>Order Lambda</a:t>
            </a:r>
            <a:r>
              <a:rPr lang="zh-TW" altLang="en-US" dirty="0"/>
              <a:t>。</a:t>
            </a:r>
          </a:p>
          <a:p>
            <a:pPr marL="1022350" lvl="1" indent="-457200">
              <a:buFont typeface="+mj-lt"/>
              <a:buAutoNum type="arabicPeriod" startAt="6"/>
            </a:pPr>
            <a:r>
              <a:rPr lang="en-US" altLang="zh-TW" dirty="0">
                <a:solidFill>
                  <a:schemeClr val="tx1"/>
                </a:solidFill>
              </a:rPr>
              <a:t>Order Lambda</a:t>
            </a:r>
            <a:r>
              <a:rPr lang="zh-TW" altLang="en-US" dirty="0"/>
              <a:t>：執行資料庫查詢，回傳訂單結果。</a:t>
            </a:r>
          </a:p>
          <a:p>
            <a:pPr marL="76200" indent="0">
              <a:buNone/>
            </a:pPr>
            <a:r>
              <a:rPr lang="zh-TW" altLang="en-US" b="1" dirty="0">
                <a:solidFill>
                  <a:schemeClr val="tx1"/>
                </a:solidFill>
              </a:rPr>
              <a:t>第三階段：記錄與最終回傳</a:t>
            </a:r>
          </a:p>
          <a:p>
            <a:pPr marL="990600" lvl="1" indent="-457200">
              <a:buFont typeface="+mj-lt"/>
              <a:buAutoNum type="arabicPeriod" startAt="7"/>
            </a:pPr>
            <a:r>
              <a:rPr lang="en-US" altLang="zh-TW" dirty="0">
                <a:solidFill>
                  <a:schemeClr val="tx1"/>
                </a:solidFill>
              </a:rPr>
              <a:t>AI Gateway (</a:t>
            </a:r>
            <a:r>
              <a:rPr lang="zh-TW" altLang="en-US" dirty="0">
                <a:solidFill>
                  <a:schemeClr val="tx1"/>
                </a:solidFill>
              </a:rPr>
              <a:t>記錄與計費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/>
              <a:t>：</a:t>
            </a:r>
          </a:p>
          <a:p>
            <a:pPr marL="1447800" lvl="2" indent="-457200"/>
            <a:r>
              <a:rPr lang="en-US" altLang="zh-TW" dirty="0"/>
              <a:t>Observability</a:t>
            </a:r>
            <a:r>
              <a:rPr lang="zh-TW" altLang="en-US" dirty="0"/>
              <a:t>：記錄 </a:t>
            </a:r>
            <a:r>
              <a:rPr lang="en-US" altLang="zh-TW" dirty="0"/>
              <a:t>Log</a:t>
            </a:r>
            <a:r>
              <a:rPr lang="zh-TW" altLang="en-US" dirty="0"/>
              <a:t>、延遲（</a:t>
            </a:r>
            <a:r>
              <a:rPr lang="en-US" altLang="zh-TW" dirty="0"/>
              <a:t>Latency</a:t>
            </a:r>
            <a:r>
              <a:rPr lang="zh-TW" altLang="en-US" dirty="0"/>
              <a:t>）與 </a:t>
            </a:r>
            <a:r>
              <a:rPr lang="en-US" altLang="zh-TW" dirty="0"/>
              <a:t>Token </a:t>
            </a:r>
            <a:r>
              <a:rPr lang="zh-TW" altLang="en-US" dirty="0"/>
              <a:t>使用量。</a:t>
            </a:r>
          </a:p>
          <a:p>
            <a:pPr marL="1447800" lvl="2" indent="-457200"/>
            <a:r>
              <a:rPr lang="en-US" altLang="zh-TW" dirty="0"/>
              <a:t>Final Billing</a:t>
            </a:r>
            <a:r>
              <a:rPr lang="zh-TW" altLang="en-US" dirty="0"/>
              <a:t>：根據 </a:t>
            </a:r>
            <a:r>
              <a:rPr lang="en-US" altLang="zh-TW" dirty="0"/>
              <a:t>Lambda </a:t>
            </a:r>
            <a:r>
              <a:rPr lang="zh-TW" altLang="en-US" dirty="0"/>
              <a:t>執行結果與 </a:t>
            </a:r>
            <a:r>
              <a:rPr lang="en-US" altLang="zh-TW" dirty="0"/>
              <a:t>Token </a:t>
            </a:r>
            <a:r>
              <a:rPr lang="zh-TW" altLang="en-US" dirty="0"/>
              <a:t>使用情況完成扣款。</a:t>
            </a:r>
          </a:p>
          <a:p>
            <a:pPr marL="990600" lvl="1" indent="-457200">
              <a:buFont typeface="+mj-lt"/>
              <a:buAutoNum type="arabicPeriod" startAt="7"/>
            </a:pPr>
            <a:r>
              <a:rPr lang="en-US" altLang="zh-TW" dirty="0" err="1">
                <a:solidFill>
                  <a:schemeClr val="tx1"/>
                </a:solidFill>
              </a:rPr>
              <a:t>AgentCore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zh-TW" altLang="en-US" dirty="0">
                <a:solidFill>
                  <a:schemeClr val="tx1"/>
                </a:solidFill>
              </a:rPr>
              <a:t>回傳</a:t>
            </a:r>
            <a:r>
              <a:rPr lang="zh-TW" altLang="en-US" dirty="0"/>
              <a:t>：將結果彙整後，回傳給用戶。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3436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A32DFD-E2B7-4A57-BA7D-E1ADEA44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MCP Tool Call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D3FF69-5281-4E41-A83E-0BD3C9AA5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zh-TW" altLang="en-US" dirty="0"/>
              <a:t>當 </a:t>
            </a:r>
            <a:r>
              <a:rPr lang="en-US" altLang="zh-TW" dirty="0" err="1"/>
              <a:t>AgentCore</a:t>
            </a:r>
            <a:r>
              <a:rPr lang="en-US" altLang="zh-TW" dirty="0"/>
              <a:t> Gateway </a:t>
            </a:r>
            <a:r>
              <a:rPr lang="zh-TW" altLang="en-US" dirty="0"/>
              <a:t>掃描可用工具時，它看到的「</a:t>
            </a:r>
            <a:r>
              <a:rPr lang="en-US" altLang="zh-TW" dirty="0"/>
              <a:t>Endpoint</a:t>
            </a:r>
            <a:r>
              <a:rPr lang="zh-TW" altLang="en-US" dirty="0"/>
              <a:t>」其實是 </a:t>
            </a:r>
            <a:r>
              <a:rPr lang="en-US" altLang="zh-TW" dirty="0"/>
              <a:t>AI Gateway </a:t>
            </a:r>
            <a:r>
              <a:rPr lang="zh-TW" altLang="en-US" dirty="0"/>
              <a:t>地址。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altLang="zh-TW" dirty="0"/>
              <a:t>Agent </a:t>
            </a:r>
            <a:r>
              <a:rPr lang="zh-TW" altLang="en-US" dirty="0"/>
              <a:t>發出 </a:t>
            </a:r>
            <a:r>
              <a:rPr lang="en-US" altLang="zh-TW" dirty="0"/>
              <a:t>Tool Call</a:t>
            </a:r>
            <a:r>
              <a:rPr lang="zh-TW" altLang="en-US" dirty="0"/>
              <a:t>。</a:t>
            </a:r>
          </a:p>
          <a:p>
            <a:pPr marL="990600" lvl="1" indent="-457200">
              <a:buFont typeface="+mj-lt"/>
              <a:buAutoNum type="arabicPeriod"/>
            </a:pPr>
            <a:r>
              <a:rPr lang="zh-TW" altLang="en-US" dirty="0"/>
              <a:t>請求進入</a:t>
            </a:r>
            <a:r>
              <a:rPr lang="en-US" altLang="zh-TW" dirty="0" err="1"/>
              <a:t>AgentCore</a:t>
            </a:r>
            <a:r>
              <a:rPr lang="en-US" altLang="zh-TW" dirty="0"/>
              <a:t> Gateway, </a:t>
            </a:r>
            <a:r>
              <a:rPr lang="zh-TW" altLang="en-US" dirty="0"/>
              <a:t>映射到 </a:t>
            </a:r>
            <a:r>
              <a:rPr lang="en-US" altLang="zh-TW" dirty="0"/>
              <a:t>AWS IAM Role</a:t>
            </a:r>
            <a:r>
              <a:rPr lang="zh-TW" altLang="en-US" dirty="0"/>
              <a:t>、取得 </a:t>
            </a:r>
            <a:r>
              <a:rPr lang="en-US" altLang="zh-TW" dirty="0"/>
              <a:t>Target </a:t>
            </a:r>
            <a:r>
              <a:rPr lang="zh-TW" altLang="en-US" dirty="0"/>
              <a:t>憑證。</a:t>
            </a:r>
          </a:p>
          <a:p>
            <a:pPr marL="990600" lvl="1" indent="-457200">
              <a:buFont typeface="+mj-lt"/>
              <a:buAutoNum type="arabicPeriod"/>
            </a:pPr>
            <a:r>
              <a:rPr lang="zh-TW" altLang="en-US" dirty="0"/>
              <a:t>驗證通過後，進入</a:t>
            </a:r>
            <a:r>
              <a:rPr lang="en-US" altLang="zh-TW" dirty="0"/>
              <a:t>AI</a:t>
            </a:r>
            <a:r>
              <a:rPr lang="zh-TW" altLang="en-US" dirty="0"/>
              <a:t> </a:t>
            </a:r>
            <a:r>
              <a:rPr lang="en-US" altLang="zh-TW" dirty="0"/>
              <a:t>Gateway </a:t>
            </a:r>
            <a:r>
              <a:rPr lang="zh-TW" altLang="en-US" dirty="0"/>
              <a:t>檢查該用戶是否有餘額、該 </a:t>
            </a:r>
            <a:r>
              <a:rPr lang="en-US" altLang="zh-TW" dirty="0"/>
              <a:t>Tool </a:t>
            </a:r>
            <a:r>
              <a:rPr lang="zh-TW" altLang="en-US" dirty="0"/>
              <a:t>是否在訂閱有效期內。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altLang="zh-TW" dirty="0"/>
              <a:t>AI</a:t>
            </a:r>
            <a:r>
              <a:rPr lang="zh-TW" altLang="en-US" dirty="0"/>
              <a:t> </a:t>
            </a:r>
            <a:r>
              <a:rPr lang="en-US" altLang="zh-TW" dirty="0"/>
              <a:t>Gateway </a:t>
            </a:r>
            <a:r>
              <a:rPr lang="zh-TW" altLang="en-US" dirty="0"/>
              <a:t>請求 </a:t>
            </a:r>
            <a:r>
              <a:rPr lang="en-US" altLang="zh-TW" dirty="0"/>
              <a:t>Real Tool</a:t>
            </a:r>
            <a:r>
              <a:rPr lang="zh-TW" altLang="en-US" dirty="0"/>
              <a:t>。</a:t>
            </a:r>
          </a:p>
          <a:p>
            <a:pPr marL="76200" indent="0">
              <a:buNone/>
            </a:pPr>
            <a:endParaRPr lang="en-US" altLang="zh-TW" dirty="0"/>
          </a:p>
          <a:p>
            <a:pPr marL="76200" indent="0">
              <a:buNone/>
            </a:pPr>
            <a:r>
              <a:rPr lang="en-US" altLang="zh-TW" sz="1600" dirty="0"/>
              <a:t>*</a:t>
            </a:r>
            <a:r>
              <a:rPr lang="zh-TW" altLang="en-US" sz="1600" dirty="0"/>
              <a:t>亦可利用 </a:t>
            </a:r>
            <a:r>
              <a:rPr lang="en-US" altLang="zh-TW" sz="1600" dirty="0" err="1"/>
              <a:t>AgentCore</a:t>
            </a:r>
            <a:r>
              <a:rPr lang="en-US" altLang="zh-TW" sz="1600" dirty="0"/>
              <a:t> </a:t>
            </a:r>
            <a:r>
              <a:rPr lang="zh-TW" altLang="en-US" sz="1600" dirty="0"/>
              <a:t>的 </a:t>
            </a:r>
            <a:r>
              <a:rPr lang="en-US" altLang="zh-TW" sz="1600" dirty="0"/>
              <a:t>Custom Orchestration </a:t>
            </a:r>
            <a:r>
              <a:rPr lang="zh-TW" altLang="en-US" sz="1600" dirty="0"/>
              <a:t>功能定義一個攔截器（</a:t>
            </a:r>
            <a:r>
              <a:rPr lang="en-US" altLang="zh-TW" sz="1600" dirty="0"/>
              <a:t>Interceptor</a:t>
            </a:r>
            <a:r>
              <a:rPr lang="zh-TW" altLang="en-US" sz="1600" dirty="0"/>
              <a:t>），在 </a:t>
            </a:r>
            <a:r>
              <a:rPr lang="en-US" altLang="zh-TW" sz="1600" dirty="0"/>
              <a:t>Agent </a:t>
            </a:r>
            <a:r>
              <a:rPr lang="zh-TW" altLang="en-US" sz="1600" dirty="0"/>
              <a:t>調用任何 </a:t>
            </a:r>
            <a:r>
              <a:rPr lang="en-US" altLang="zh-TW" sz="1600" dirty="0"/>
              <a:t>Skill </a:t>
            </a:r>
            <a:r>
              <a:rPr lang="zh-TW" altLang="en-US" sz="1600" dirty="0"/>
              <a:t>之前，強制經過</a:t>
            </a:r>
            <a:r>
              <a:rPr lang="en-US" altLang="zh-TW" sz="1600" dirty="0"/>
              <a:t>AI</a:t>
            </a:r>
            <a:r>
              <a:rPr lang="zh-TW" altLang="en-US" sz="1600" dirty="0"/>
              <a:t> </a:t>
            </a:r>
            <a:r>
              <a:rPr lang="en-US" altLang="zh-TW" sz="1600" dirty="0"/>
              <a:t>Gateway </a:t>
            </a:r>
            <a:r>
              <a:rPr lang="zh-TW" altLang="en-US" sz="1600" dirty="0"/>
              <a:t>進行「簽名校驗」。</a:t>
            </a:r>
          </a:p>
        </p:txBody>
      </p:sp>
    </p:spTree>
    <p:extLst>
      <p:ext uri="{BB962C8B-B14F-4D97-AF65-F5344CB8AC3E}">
        <p14:creationId xmlns:p14="http://schemas.microsoft.com/office/powerpoint/2010/main" val="3010678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794FC5-3397-4F69-BAFF-FF30B7BE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AgentCore</a:t>
            </a:r>
            <a:r>
              <a:rPr lang="en-US" altLang="zh-TW" dirty="0"/>
              <a:t> Gateway &amp; AI Gateway</a:t>
            </a:r>
            <a:r>
              <a:rPr lang="zh-TW" altLang="en-US" dirty="0"/>
              <a:t>角色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1EA140-F1ED-45B5-A5F6-E04F8E4C8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4520"/>
            <a:ext cx="11360700" cy="2825505"/>
          </a:xfrm>
        </p:spPr>
        <p:txBody>
          <a:bodyPr>
            <a:normAutofit lnSpcReduction="10000"/>
          </a:bodyPr>
          <a:lstStyle/>
          <a:p>
            <a:r>
              <a:rPr lang="en-US" altLang="zh-TW" dirty="0" err="1">
                <a:solidFill>
                  <a:schemeClr val="tx1"/>
                </a:solidFill>
              </a:rPr>
              <a:t>AgentCore</a:t>
            </a:r>
            <a:r>
              <a:rPr lang="en-US" altLang="zh-TW" dirty="0">
                <a:solidFill>
                  <a:schemeClr val="tx1"/>
                </a:solidFill>
              </a:rPr>
              <a:t> Gateway </a:t>
            </a:r>
            <a:r>
              <a:rPr lang="zh-TW" altLang="en-US" dirty="0"/>
              <a:t>處理的是底層的 </a:t>
            </a:r>
            <a:r>
              <a:rPr lang="en-US" altLang="zh-TW" dirty="0"/>
              <a:t>Protocol </a:t>
            </a:r>
            <a:r>
              <a:rPr lang="zh-TW" altLang="en-US" dirty="0"/>
              <a:t>轉換（例如將 </a:t>
            </a:r>
            <a:r>
              <a:rPr lang="en-US" altLang="zh-TW" dirty="0"/>
              <a:t>LLM </a:t>
            </a:r>
            <a:r>
              <a:rPr lang="zh-TW" altLang="en-US" dirty="0"/>
              <a:t>的 </a:t>
            </a:r>
            <a:r>
              <a:rPr lang="en-US" altLang="zh-TW" dirty="0"/>
              <a:t>Tool Call </a:t>
            </a:r>
            <a:r>
              <a:rPr lang="zh-TW" altLang="en-US" dirty="0"/>
              <a:t>轉為 </a:t>
            </a:r>
            <a:r>
              <a:rPr lang="en-US" altLang="zh-TW" dirty="0"/>
              <a:t>MCP </a:t>
            </a:r>
            <a:r>
              <a:rPr lang="zh-TW" altLang="en-US" dirty="0"/>
              <a:t>指令）以及與 </a:t>
            </a:r>
            <a:r>
              <a:rPr lang="en-US" altLang="zh-TW" dirty="0"/>
              <a:t>AWS </a:t>
            </a:r>
            <a:r>
              <a:rPr lang="zh-TW" altLang="en-US" dirty="0"/>
              <a:t>生態（</a:t>
            </a:r>
            <a:r>
              <a:rPr lang="en-US" altLang="zh-TW" dirty="0"/>
              <a:t>IAM, Bedrock</a:t>
            </a:r>
            <a:r>
              <a:rPr lang="zh-TW" altLang="en-US" dirty="0"/>
              <a:t>）的深度整合。</a:t>
            </a:r>
            <a:endParaRPr lang="en-US" altLang="zh-TW" dirty="0"/>
          </a:p>
          <a:p>
            <a:r>
              <a:rPr lang="en-US" altLang="zh-TW" dirty="0">
                <a:solidFill>
                  <a:schemeClr val="tx1"/>
                </a:solidFill>
              </a:rPr>
              <a:t>AI Gateway </a:t>
            </a:r>
            <a:r>
              <a:rPr lang="zh-TW" altLang="en-US" dirty="0"/>
              <a:t>負責 </a:t>
            </a:r>
            <a:r>
              <a:rPr lang="en-US" altLang="zh-TW" dirty="0"/>
              <a:t>Marketplace </a:t>
            </a:r>
            <a:r>
              <a:rPr lang="zh-TW" altLang="en-US" dirty="0"/>
              <a:t>商業邏輯：</a:t>
            </a:r>
          </a:p>
          <a:p>
            <a:pPr lvl="1"/>
            <a:r>
              <a:rPr lang="zh-TW" altLang="en-US" dirty="0"/>
              <a:t>計費與限流 </a:t>
            </a:r>
            <a:r>
              <a:rPr lang="en-US" altLang="zh-TW" dirty="0"/>
              <a:t>(Billing &amp; Quota)</a:t>
            </a:r>
            <a:r>
              <a:rPr lang="zh-TW" altLang="en-US" dirty="0"/>
              <a:t>：按 </a:t>
            </a:r>
            <a:r>
              <a:rPr lang="en-US" altLang="zh-TW" dirty="0"/>
              <a:t>API </a:t>
            </a:r>
            <a:r>
              <a:rPr lang="zh-TW" altLang="en-US" dirty="0"/>
              <a:t>調用次數扣除用戶點數。</a:t>
            </a:r>
          </a:p>
          <a:p>
            <a:pPr lvl="1"/>
            <a:r>
              <a:rPr lang="zh-TW" altLang="en-US" dirty="0"/>
              <a:t>審計與合規 </a:t>
            </a:r>
            <a:r>
              <a:rPr lang="en-US" altLang="zh-TW" dirty="0"/>
              <a:t>(Audit Log)</a:t>
            </a:r>
            <a:r>
              <a:rPr lang="zh-TW" altLang="en-US" dirty="0"/>
              <a:t>：記錄哪些 </a:t>
            </a:r>
            <a:r>
              <a:rPr lang="en-US" altLang="zh-TW" dirty="0"/>
              <a:t>Tools </a:t>
            </a:r>
            <a:r>
              <a:rPr lang="zh-TW" altLang="en-US" dirty="0"/>
              <a:t>被調用，用於糾紛處理。</a:t>
            </a:r>
          </a:p>
          <a:p>
            <a:pPr lvl="1"/>
            <a:r>
              <a:rPr lang="zh-TW" altLang="en-US" dirty="0"/>
              <a:t>多供應商路由 </a:t>
            </a:r>
            <a:r>
              <a:rPr lang="en-US" altLang="zh-TW" dirty="0"/>
              <a:t>(Provider Routing)</a:t>
            </a:r>
            <a:r>
              <a:rPr lang="zh-TW" altLang="en-US" dirty="0"/>
              <a:t>：如果某個 </a:t>
            </a:r>
            <a:r>
              <a:rPr lang="en-US" altLang="zh-TW" dirty="0"/>
              <a:t>MCP Tool </a:t>
            </a:r>
            <a:r>
              <a:rPr lang="zh-TW" altLang="en-US" dirty="0"/>
              <a:t>有多個提供者，由</a:t>
            </a:r>
            <a:r>
              <a:rPr lang="en-US" altLang="zh-TW" dirty="0"/>
              <a:t>AI</a:t>
            </a:r>
            <a:r>
              <a:rPr lang="zh-TW" altLang="en-US" dirty="0"/>
              <a:t> </a:t>
            </a:r>
            <a:r>
              <a:rPr lang="en-US" altLang="zh-TW" dirty="0"/>
              <a:t>Gateway </a:t>
            </a:r>
            <a:r>
              <a:rPr lang="zh-TW" altLang="en-US" dirty="0"/>
              <a:t>決定路由到哪一個。</a:t>
            </a: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4135FC2-8C0B-4BF4-9696-C077EA86D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20468"/>
              </p:ext>
            </p:extLst>
          </p:nvPr>
        </p:nvGraphicFramePr>
        <p:xfrm>
          <a:off x="565827" y="4010727"/>
          <a:ext cx="11360150" cy="2621280"/>
        </p:xfrm>
        <a:graphic>
          <a:graphicData uri="http://schemas.openxmlformats.org/drawingml/2006/table">
            <a:tbl>
              <a:tblPr firstRow="1" firstCol="1" bandRow="1">
                <a:tableStyleId>{80FD8F25-A576-49CD-8403-C089483F2927}</a:tableStyleId>
              </a:tblPr>
              <a:tblGrid>
                <a:gridCol w="2312285">
                  <a:extLst>
                    <a:ext uri="{9D8B030D-6E8A-4147-A177-3AD203B41FA5}">
                      <a16:colId xmlns:a16="http://schemas.microsoft.com/office/drawing/2014/main" val="263680629"/>
                    </a:ext>
                  </a:extLst>
                </a:gridCol>
                <a:gridCol w="4324662">
                  <a:extLst>
                    <a:ext uri="{9D8B030D-6E8A-4147-A177-3AD203B41FA5}">
                      <a16:colId xmlns:a16="http://schemas.microsoft.com/office/drawing/2014/main" val="1938866378"/>
                    </a:ext>
                  </a:extLst>
                </a:gridCol>
                <a:gridCol w="4723203">
                  <a:extLst>
                    <a:ext uri="{9D8B030D-6E8A-4147-A177-3AD203B41FA5}">
                      <a16:colId xmlns:a16="http://schemas.microsoft.com/office/drawing/2014/main" val="66350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bg1"/>
                          </a:solidFill>
                          <a:effectLst/>
                        </a:rPr>
                        <a:t>功能維度</a:t>
                      </a:r>
                      <a:endParaRPr lang="zh-TW" sz="16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AI Gateway (Marketplace </a:t>
                      </a:r>
                      <a:r>
                        <a:rPr lang="zh-TW" sz="1600" kern="100" dirty="0">
                          <a:solidFill>
                            <a:schemeClr val="bg1"/>
                          </a:solidFill>
                          <a:effectLst/>
                        </a:rPr>
                        <a:t>核心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zh-TW" sz="16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chemeClr val="bg1"/>
                          </a:solidFill>
                          <a:effectLst/>
                        </a:rPr>
                        <a:t>AgentCore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 Gateway (</a:t>
                      </a:r>
                      <a:r>
                        <a:rPr lang="zh-TW" sz="1600" kern="100" dirty="0">
                          <a:solidFill>
                            <a:schemeClr val="bg1"/>
                          </a:solidFill>
                          <a:effectLst/>
                        </a:rPr>
                        <a:t>基礎設施</a:t>
                      </a:r>
                      <a:r>
                        <a:rPr lang="en-US" sz="1600" kern="1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zh-TW" sz="16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152400" marB="152400" anchor="ctr"/>
                </a:tc>
                <a:extLst>
                  <a:ext uri="{0D108BD9-81ED-4DB2-BD59-A6C34878D82A}">
                    <a16:rowId xmlns:a16="http://schemas.microsoft.com/office/drawing/2014/main" val="327260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身分識別</a:t>
                      </a: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校驗 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Marketplace 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用戶 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Token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、訂閱權限。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映射到 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AWS IAM Role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、取得 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Target 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憑證。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550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協議處理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處理業務</a:t>
                      </a: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 JSON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Webhooks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、長連接管理。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MCP (Model Context Protocol) 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封裝與解析。</a:t>
                      </a:r>
                      <a:endParaRPr lang="zh-TW" altLang="zh-TW" sz="14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931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資源管理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管理用戶購買了哪些</a:t>
                      </a: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 Skill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、配置</a:t>
                      </a: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 Tool 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清單。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維護與</a:t>
                      </a: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 Lambda, HTTP, MCP Server 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的物理連線。</a:t>
                      </a:r>
                      <a:endParaRPr lang="zh-TW" altLang="zh-TW" sz="14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0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數據安全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PII 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遮罩</a:t>
                      </a: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 (Data Masking)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、敏感詞過濾</a:t>
                      </a:r>
                      <a:r>
                        <a:rPr lang="zh-TW" altLang="en-US" sz="1400" kern="100" dirty="0">
                          <a:solidFill>
                            <a:schemeClr val="bg1"/>
                          </a:solidFill>
                          <a:effectLst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Audit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傳輸加密</a:t>
                      </a: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 (TLS)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、</a:t>
                      </a:r>
                      <a:r>
                        <a:rPr lang="en-US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VPC Endpoint </a:t>
                      </a:r>
                      <a:r>
                        <a:rPr lang="zh-TW" altLang="zh-TW" sz="1400" kern="100" dirty="0">
                          <a:solidFill>
                            <a:schemeClr val="bg1"/>
                          </a:solidFill>
                          <a:effectLst/>
                        </a:rPr>
                        <a:t>安全存取。</a:t>
                      </a:r>
                      <a:endParaRPr lang="zh-TW" altLang="zh-TW" sz="14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3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574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/>
          <p:nvPr/>
        </p:nvSpPr>
        <p:spPr>
          <a:xfrm>
            <a:off x="571500" y="1655564"/>
            <a:ext cx="11049000" cy="4461271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20"/>
          <p:cNvGraphicFramePr/>
          <p:nvPr>
            <p:extLst>
              <p:ext uri="{D42A27DB-BD31-4B8C-83A1-F6EECF244321}">
                <p14:modId xmlns:p14="http://schemas.microsoft.com/office/powerpoint/2010/main" val="2505081069"/>
              </p:ext>
            </p:extLst>
          </p:nvPr>
        </p:nvGraphicFramePr>
        <p:xfrm>
          <a:off x="571500" y="1655564"/>
          <a:ext cx="11039475" cy="4461250"/>
        </p:xfrm>
        <a:graphic>
          <a:graphicData uri="http://schemas.openxmlformats.org/drawingml/2006/table">
            <a:tbl>
              <a:tblPr firstRow="1" bandRow="1">
                <a:noFill/>
                <a:tableStyleId>{80FD8F25-A576-49CD-8403-C089483F2927}</a:tableStyleId>
              </a:tblPr>
              <a:tblGrid>
                <a:gridCol w="224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治理維度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傳統</a:t>
                      </a:r>
                      <a:r>
                        <a:rPr lang="en-US" sz="1600" b="1" i="0" u="none" strike="noStrike" cap="none" dirty="0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AI </a:t>
                      </a:r>
                      <a:r>
                        <a:rPr lang="en-US" sz="1600" b="1" i="0" u="none" strike="noStrike" cap="none" dirty="0" err="1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部署模式</a:t>
                      </a:r>
                      <a:endParaRPr sz="1600" dirty="0"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Marketplace </a:t>
                      </a: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商城模式</a:t>
                      </a:r>
                      <a:endParaRPr sz="1600" dirty="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權限管控</a:t>
                      </a:r>
                      <a:endParaRPr sz="1600"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靜態</a:t>
                      </a:r>
                      <a:r>
                        <a:rPr lang="en-US" sz="1400" b="0" i="0" u="none" strike="noStrike" cap="none" dirty="0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API </a:t>
                      </a:r>
                      <a:r>
                        <a:rPr lang="en-US" sz="1400" b="0" i="0" u="none" strike="noStrike" cap="none" dirty="0" err="1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Key，分享後難以追蹤與強制回收</a:t>
                      </a:r>
                      <a:r>
                        <a:rPr lang="en-US" sz="1400" b="0" i="0" u="none" strike="noStrike" cap="none" dirty="0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。</a:t>
                      </a:r>
                      <a:endParaRPr sz="1400" dirty="0"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動態授權，高風險操作具備強制人工審核機制 (HITL)。</a:t>
                      </a:r>
                      <a:endParaRPr sz="140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資源與成本</a:t>
                      </a:r>
                      <a:endParaRPr sz="1600"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全公司共用資源池，容易造成預算排擠與超支</a:t>
                      </a:r>
                      <a:r>
                        <a:rPr lang="en-US" sz="1400" b="0" i="0" u="none" strike="noStrike" cap="none" dirty="0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。</a:t>
                      </a:r>
                      <a:endParaRPr sz="1400" dirty="0"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精細化管控，可按部門或專案設定配額與 Token 預算。</a:t>
                      </a:r>
                      <a:endParaRPr sz="140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安全審計</a:t>
                      </a:r>
                      <a:endParaRPr sz="1600"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僅有基本且粗略的</a:t>
                      </a:r>
                      <a:r>
                        <a:rPr lang="en-US" sz="1400" b="0" i="0" u="none" strike="noStrike" cap="none" dirty="0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Call </a:t>
                      </a:r>
                      <a:r>
                        <a:rPr lang="en-US" sz="1400" b="0" i="0" u="none" strike="noStrike" cap="none" dirty="0" err="1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Log，無法得知具體細節</a:t>
                      </a:r>
                      <a:r>
                        <a:rPr lang="en-US" sz="1400" b="0" i="0" u="none" strike="noStrike" cap="none" dirty="0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。</a:t>
                      </a:r>
                      <a:endParaRPr sz="1400" dirty="0"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完整留存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MCP Tool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調用參數、返回內容，確保合規性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。</a:t>
                      </a:r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資源利用率</a:t>
                      </a:r>
                      <a:endParaRPr sz="1600"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737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孤島式開發，各部門重複造輪子，缺乏協作。</a:t>
                      </a:r>
                      <a:endParaRPr sz="1400">
                        <a:solidFill>
                          <a:srgbClr val="073763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自動索引所有資源，全方位推動內部工具民主化與共享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。</a:t>
                      </a:r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4" name="Google Shape;164;p20"/>
          <p:cNvSpPr/>
          <p:nvPr/>
        </p:nvSpPr>
        <p:spPr>
          <a:xfrm>
            <a:off x="576262" y="2346126"/>
            <a:ext cx="27598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336131" y="2346126"/>
            <a:ext cx="3860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197030" y="2346126"/>
            <a:ext cx="44187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76262" y="3285232"/>
            <a:ext cx="27598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3336131" y="3285232"/>
            <a:ext cx="3860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7197030" y="3285232"/>
            <a:ext cx="44187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76262" y="4224337"/>
            <a:ext cx="27598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3336131" y="4224337"/>
            <a:ext cx="3860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7197030" y="4224337"/>
            <a:ext cx="44187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76262" y="5163442"/>
            <a:ext cx="27598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336131" y="5163442"/>
            <a:ext cx="3860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197030" y="5163442"/>
            <a:ext cx="44187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分層治理：企業級安全管控機制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9762"/>
            <a:ext cx="5286375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9762"/>
            <a:ext cx="5286375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395537"/>
            <a:ext cx="431482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19900" y="2395537"/>
            <a:ext cx="4314825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1057275" y="3633787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降低 IT 手動配置工作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1057275" y="4271962"/>
            <a:ext cx="4314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透過直覺的自助式 UI 申請流程，讓業務單位自主領取所需工具，極大地減輕了 IT 部門的維運負擔與溝通成本。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6819900" y="3633787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節省模型消耗成本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6819900" y="4271962"/>
            <a:ext cx="4314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藉由精準的部門預算配額管理 (Quota)、閒置權限自動回收機制以及智能路由，有效剔除無效的運算資源消耗。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預期業務效益與 ROI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1971675" y="1885950"/>
            <a:ext cx="8248650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digiRunner AI Marketplace </a:t>
            </a:r>
            <a:r>
              <a:rPr lang="en-US" sz="3150" b="0" i="0" u="none" strike="noStrike" cap="none" dirty="0" err="1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不僅僅是一個技術組件，更是企業內部的「AI</a:t>
            </a:r>
            <a:r>
              <a:rPr lang="en-US" sz="3150" b="0" i="0" u="none" strike="noStrike" cap="none" dirty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3150" b="0" i="0" u="none" strike="noStrike" cap="none" dirty="0" err="1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基礎設施作業系統</a:t>
            </a:r>
            <a:r>
              <a:rPr lang="en-US" sz="3150" b="0" i="0" u="none" strike="noStrike" cap="none" dirty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」。</a:t>
            </a:r>
            <a:r>
              <a:rPr lang="en-US" sz="3150" b="0" i="0" u="none" strike="noStrike" cap="none" dirty="0" err="1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它確保在安全、控時、控價的前提下，全面釋放組織的生產力</a:t>
            </a:r>
            <a:r>
              <a:rPr lang="en-US" sz="3150" b="0" i="0" u="none" strike="noStrike" cap="none" dirty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。</a:t>
            </a:r>
            <a:endParaRPr dirty="0"/>
          </a:p>
        </p:txBody>
      </p:sp>
      <p:sp>
        <p:nvSpPr>
          <p:cNvPr id="204" name="Google Shape;204;p23"/>
          <p:cNvSpPr txBox="1"/>
          <p:nvPr/>
        </p:nvSpPr>
        <p:spPr>
          <a:xfrm>
            <a:off x="4519612" y="4676775"/>
            <a:ext cx="3152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— 企業 AI 規模化的關鍵里程碑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1209675" y="2266950"/>
            <a:ext cx="466576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10515752" y="4286250"/>
            <a:ext cx="466576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7475" y="4303365"/>
            <a:ext cx="68770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 txBox="1"/>
          <p:nvPr/>
        </p:nvSpPr>
        <p:spPr>
          <a:xfrm>
            <a:off x="295275" y="2011709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LET'S WORK TOGETHER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571500" y="3183284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您的 AI 戰略轉型夥伴，引領企業關鍵任務邁向成功。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FB51-5740-47CB-A1CB-69DC4304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用戶在</a:t>
            </a:r>
            <a:r>
              <a:rPr lang="en-US" altLang="zh-TW" dirty="0"/>
              <a:t>Marketplace</a:t>
            </a:r>
            <a:r>
              <a:rPr lang="zh-TW" altLang="en-US" dirty="0"/>
              <a:t>申請</a:t>
            </a:r>
            <a:r>
              <a:rPr lang="en-US" altLang="zh-TW" dirty="0"/>
              <a:t>Agent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E67E3B-7877-4A77-AE01-09706D2C4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zh-TW" altLang="en-US" b="1" dirty="0">
                <a:solidFill>
                  <a:schemeClr val="tx1"/>
                </a:solidFill>
              </a:rPr>
              <a:t>申請初始化流程</a:t>
            </a:r>
            <a:r>
              <a:rPr lang="en-US" altLang="zh-TW" b="1" dirty="0">
                <a:solidFill>
                  <a:schemeClr val="tx1"/>
                </a:solidFill>
              </a:rPr>
              <a:t>: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User </a:t>
            </a:r>
            <a:r>
              <a:rPr lang="zh-TW" altLang="en-US" dirty="0">
                <a:solidFill>
                  <a:schemeClr val="tx1"/>
                </a:solidFill>
              </a:rPr>
              <a:t>在 </a:t>
            </a:r>
            <a:r>
              <a:rPr lang="en-US" altLang="zh-TW" dirty="0">
                <a:solidFill>
                  <a:schemeClr val="tx1"/>
                </a:solidFill>
              </a:rPr>
              <a:t>Marketplace </a:t>
            </a:r>
            <a:r>
              <a:rPr lang="zh-TW" altLang="en-US" dirty="0">
                <a:solidFill>
                  <a:schemeClr val="tx1"/>
                </a:solidFill>
              </a:rPr>
              <a:t>選定 </a:t>
            </a:r>
            <a:r>
              <a:rPr lang="en-US" altLang="zh-TW" dirty="0">
                <a:solidFill>
                  <a:schemeClr val="tx1"/>
                </a:solidFill>
              </a:rPr>
              <a:t>"SEO </a:t>
            </a:r>
            <a:r>
              <a:rPr lang="zh-TW" altLang="en-US" dirty="0">
                <a:solidFill>
                  <a:schemeClr val="tx1"/>
                </a:solidFill>
              </a:rPr>
              <a:t>專家 </a:t>
            </a:r>
            <a:r>
              <a:rPr lang="en-US" altLang="zh-TW" dirty="0">
                <a:solidFill>
                  <a:schemeClr val="tx1"/>
                </a:solidFill>
              </a:rPr>
              <a:t>Agent" 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Marketplace Backend </a:t>
            </a:r>
            <a:r>
              <a:rPr lang="zh-TW" altLang="en-US" dirty="0">
                <a:solidFill>
                  <a:schemeClr val="tx1"/>
                </a:solidFill>
              </a:rPr>
              <a:t>觸發 </a:t>
            </a:r>
            <a:r>
              <a:rPr lang="en-US" altLang="zh-TW" dirty="0">
                <a:solidFill>
                  <a:schemeClr val="tx1"/>
                </a:solidFill>
              </a:rPr>
              <a:t>AWS </a:t>
            </a:r>
            <a:r>
              <a:rPr lang="zh-TW" altLang="en-US" dirty="0">
                <a:solidFill>
                  <a:schemeClr val="tx1"/>
                </a:solidFill>
              </a:rPr>
              <a:t>流程。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Identity Service </a:t>
            </a:r>
            <a:r>
              <a:rPr lang="zh-TW" altLang="en-US" dirty="0">
                <a:solidFill>
                  <a:schemeClr val="tx1"/>
                </a:solidFill>
              </a:rPr>
              <a:t>產生用戶專屬的 </a:t>
            </a:r>
            <a:r>
              <a:rPr lang="en-US" altLang="zh-TW" dirty="0">
                <a:solidFill>
                  <a:schemeClr val="tx1"/>
                </a:solidFill>
              </a:rPr>
              <a:t>IAM Role &amp; Agent Identity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Provisioning Engine </a:t>
            </a:r>
            <a:r>
              <a:rPr lang="zh-TW" altLang="en-US" dirty="0">
                <a:solidFill>
                  <a:schemeClr val="tx1"/>
                </a:solidFill>
              </a:rPr>
              <a:t>調用 </a:t>
            </a:r>
            <a:r>
              <a:rPr lang="en-US" altLang="zh-TW" dirty="0" err="1">
                <a:solidFill>
                  <a:schemeClr val="tx1"/>
                </a:solidFill>
              </a:rPr>
              <a:t>AgentCore</a:t>
            </a:r>
            <a:r>
              <a:rPr lang="en-US" altLang="zh-TW" dirty="0">
                <a:solidFill>
                  <a:schemeClr val="tx1"/>
                </a:solidFill>
              </a:rPr>
              <a:t> API </a:t>
            </a:r>
            <a:r>
              <a:rPr lang="zh-TW" altLang="en-US" dirty="0">
                <a:solidFill>
                  <a:schemeClr val="tx1"/>
                </a:solidFill>
              </a:rPr>
              <a:t>部署 </a:t>
            </a:r>
            <a:r>
              <a:rPr lang="en-US" altLang="zh-TW" dirty="0">
                <a:solidFill>
                  <a:schemeClr val="tx1"/>
                </a:solidFill>
              </a:rPr>
              <a:t>Runtime </a:t>
            </a:r>
            <a:r>
              <a:rPr lang="zh-TW" altLang="en-US" dirty="0">
                <a:solidFill>
                  <a:schemeClr val="tx1"/>
                </a:solidFill>
              </a:rPr>
              <a:t>與 </a:t>
            </a:r>
            <a:r>
              <a:rPr lang="en-US" altLang="zh-TW" dirty="0">
                <a:solidFill>
                  <a:schemeClr val="tx1"/>
                </a:solidFill>
              </a:rPr>
              <a:t>Memory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Tooling Manager </a:t>
            </a:r>
            <a:r>
              <a:rPr lang="zh-TW" altLang="en-US" dirty="0">
                <a:solidFill>
                  <a:schemeClr val="tx1"/>
                </a:solidFill>
              </a:rPr>
              <a:t>將預選的 </a:t>
            </a:r>
            <a:r>
              <a:rPr lang="en-US" altLang="zh-TW" dirty="0">
                <a:solidFill>
                  <a:schemeClr val="tx1"/>
                </a:solidFill>
              </a:rPr>
              <a:t>MCP Tools </a:t>
            </a:r>
            <a:r>
              <a:rPr lang="zh-TW" altLang="en-US" dirty="0">
                <a:solidFill>
                  <a:schemeClr val="tx1"/>
                </a:solidFill>
              </a:rPr>
              <a:t>掛載到 </a:t>
            </a:r>
            <a:r>
              <a:rPr lang="en-US" altLang="zh-TW" dirty="0" err="1">
                <a:solidFill>
                  <a:schemeClr val="tx1"/>
                </a:solidFill>
              </a:rPr>
              <a:t>AgentCore</a:t>
            </a:r>
            <a:r>
              <a:rPr lang="en-US" altLang="zh-TW" dirty="0">
                <a:solidFill>
                  <a:schemeClr val="tx1"/>
                </a:solidFill>
              </a:rPr>
              <a:t> Gateway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Marketplace Backend </a:t>
            </a:r>
            <a:r>
              <a:rPr lang="zh-TW" altLang="en-US" dirty="0">
                <a:solidFill>
                  <a:schemeClr val="tx1"/>
                </a:solidFill>
              </a:rPr>
              <a:t>返回一個存取 </a:t>
            </a:r>
            <a:r>
              <a:rPr lang="en-US" altLang="zh-TW" dirty="0">
                <a:solidFill>
                  <a:schemeClr val="tx1"/>
                </a:solidFill>
              </a:rPr>
              <a:t>Endpoint </a:t>
            </a:r>
            <a:r>
              <a:rPr lang="zh-TW" altLang="en-US" dirty="0">
                <a:solidFill>
                  <a:schemeClr val="tx1"/>
                </a:solidFill>
              </a:rPr>
              <a:t>給用戶，用戶即可開始對話。</a:t>
            </a:r>
          </a:p>
        </p:txBody>
      </p:sp>
    </p:spTree>
    <p:extLst>
      <p:ext uri="{BB962C8B-B14F-4D97-AF65-F5344CB8AC3E}">
        <p14:creationId xmlns:p14="http://schemas.microsoft.com/office/powerpoint/2010/main" val="1062820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AgenCore</a:t>
            </a:r>
            <a:r>
              <a:rPr lang="zh-TW" altLang="en-US" dirty="0"/>
              <a:t>生態系統</a:t>
            </a:r>
            <a:endParaRPr dirty="0"/>
          </a:p>
        </p:txBody>
      </p:sp>
      <p:sp>
        <p:nvSpPr>
          <p:cNvPr id="212" name="Google Shape;212;p24"/>
          <p:cNvSpPr txBox="1">
            <a:spLocks noGrp="1"/>
          </p:cNvSpPr>
          <p:nvPr>
            <p:ph type="body" idx="1"/>
          </p:nvPr>
        </p:nvSpPr>
        <p:spPr>
          <a:xfrm>
            <a:off x="1285324" y="1469036"/>
            <a:ext cx="9972769" cy="529152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1"/>
                </a:solidFill>
              </a:rPr>
              <a:t>AgentCore</a:t>
            </a:r>
            <a:r>
              <a:rPr lang="en-US" dirty="0">
                <a:solidFill>
                  <a:schemeClr val="tx1"/>
                </a:solidFill>
              </a:rPr>
              <a:t> Runtime </a:t>
            </a:r>
            <a:r>
              <a:rPr lang="en-US" dirty="0"/>
              <a:t>(</a:t>
            </a:r>
            <a:r>
              <a:rPr lang="zh-TW" altLang="en-US" dirty="0"/>
              <a:t>計算層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</a:p>
          <a:p>
            <a:pPr lvl="1">
              <a:lnSpc>
                <a:spcPct val="150000"/>
              </a:lnSpc>
            </a:pPr>
            <a:r>
              <a:rPr lang="zh-TW" altLang="en-US" dirty="0"/>
              <a:t>這是存放用戶 </a:t>
            </a:r>
            <a:r>
              <a:rPr lang="en-US" dirty="0"/>
              <a:t>Agent </a:t>
            </a:r>
            <a:r>
              <a:rPr lang="zh-TW" altLang="en-US" dirty="0"/>
              <a:t>邏輯的地方。用戶在你的 </a:t>
            </a:r>
            <a:r>
              <a:rPr lang="en-US" dirty="0"/>
              <a:t>Marketplace </a:t>
            </a:r>
            <a:r>
              <a:rPr lang="zh-TW" altLang="en-US" dirty="0"/>
              <a:t>申請 </a:t>
            </a:r>
            <a:r>
              <a:rPr lang="en-US" dirty="0"/>
              <a:t>Agent </a:t>
            </a:r>
            <a:r>
              <a:rPr lang="zh-TW" altLang="en-US" dirty="0"/>
              <a:t>後，你可以透過 </a:t>
            </a:r>
            <a:r>
              <a:rPr lang="en-US" dirty="0" err="1"/>
              <a:t>AgentCore</a:t>
            </a:r>
            <a:r>
              <a:rPr lang="en-US" dirty="0"/>
              <a:t> </a:t>
            </a:r>
            <a:r>
              <a:rPr lang="zh-TW" altLang="en-US" dirty="0"/>
              <a:t>將其部署為 </a:t>
            </a:r>
            <a:r>
              <a:rPr lang="en-US" dirty="0"/>
              <a:t>Serverless Container。</a:t>
            </a:r>
            <a:r>
              <a:rPr lang="zh-TW" altLang="en-US" dirty="0"/>
              <a:t>它支援多租戶隔離，確保不同用戶的 </a:t>
            </a:r>
            <a:r>
              <a:rPr lang="en-US" dirty="0"/>
              <a:t>Agent </a:t>
            </a:r>
            <a:r>
              <a:rPr lang="zh-TW" altLang="en-US" dirty="0"/>
              <a:t>執行環境互不干擾。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b="1" dirty="0"/>
              <a:t>Outbound Auth</a:t>
            </a:r>
            <a:r>
              <a:rPr lang="en-US" altLang="zh-TW" dirty="0"/>
              <a:t> - </a:t>
            </a:r>
            <a:r>
              <a:rPr lang="zh-TW" altLang="zh-TW" dirty="0"/>
              <a:t>集中管理</a:t>
            </a:r>
            <a:r>
              <a:rPr lang="en-US" altLang="zh-TW" dirty="0"/>
              <a:t> API Key </a:t>
            </a:r>
            <a:r>
              <a:rPr lang="zh-TW" altLang="zh-TW" dirty="0"/>
              <a:t>或</a:t>
            </a:r>
            <a:r>
              <a:rPr lang="en-US" altLang="zh-TW" dirty="0"/>
              <a:t> OAuth2 </a:t>
            </a:r>
            <a:r>
              <a:rPr lang="zh-TW" altLang="zh-TW" dirty="0"/>
              <a:t>憑證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b="1" dirty="0"/>
              <a:t>Evaluations</a:t>
            </a:r>
            <a:r>
              <a:rPr lang="en-US" altLang="zh-TW" dirty="0"/>
              <a:t> - </a:t>
            </a:r>
            <a:r>
              <a:rPr lang="zh-TW" altLang="zh-TW" dirty="0"/>
              <a:t>讓用戶看到該</a:t>
            </a:r>
            <a:r>
              <a:rPr lang="en-US" altLang="zh-TW" dirty="0"/>
              <a:t> Agent </a:t>
            </a:r>
            <a:r>
              <a:rPr lang="zh-TW" altLang="zh-TW" dirty="0"/>
              <a:t>在特定</a:t>
            </a:r>
            <a:r>
              <a:rPr lang="en-US" altLang="zh-TW" dirty="0"/>
              <a:t> Skill </a:t>
            </a:r>
            <a:r>
              <a:rPr lang="zh-TW" altLang="zh-TW" dirty="0"/>
              <a:t>上的得分（正確性、安全性）。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b="1" dirty="0"/>
              <a:t>Observability</a:t>
            </a:r>
            <a:r>
              <a:rPr lang="en-US" altLang="zh-TW" dirty="0"/>
              <a:t> - </a:t>
            </a:r>
            <a:r>
              <a:rPr lang="zh-TW" altLang="en-US" dirty="0"/>
              <a:t>產出的追蹤日誌，導出到計費引擎。</a:t>
            </a:r>
            <a:r>
              <a:rPr lang="zh-TW" altLang="zh-TW" dirty="0"/>
              <a:t>追蹤每個</a:t>
            </a:r>
            <a:r>
              <a:rPr lang="en-US" altLang="zh-TW" dirty="0"/>
              <a:t> Agent </a:t>
            </a:r>
            <a:r>
              <a:rPr lang="zh-TW" altLang="zh-TW" dirty="0"/>
              <a:t>的</a:t>
            </a:r>
            <a:r>
              <a:rPr lang="en-US" altLang="zh-TW" dirty="0"/>
              <a:t> Token </a:t>
            </a:r>
            <a:r>
              <a:rPr lang="zh-TW" altLang="zh-TW" dirty="0"/>
              <a:t>消耗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b="1" dirty="0" err="1"/>
              <a:t>DeleteRuntime</a:t>
            </a:r>
            <a:r>
              <a:rPr lang="en-US" altLang="zh-TW" dirty="0"/>
              <a:t> -</a:t>
            </a:r>
            <a:r>
              <a:rPr lang="zh-TW" altLang="en-US" dirty="0"/>
              <a:t>用戶退訂後釋放資源，實現真正的 </a:t>
            </a:r>
            <a:r>
              <a:rPr lang="en-US" altLang="zh-TW" dirty="0"/>
              <a:t>Serverless </a:t>
            </a:r>
            <a:r>
              <a:rPr lang="zh-TW" altLang="en-US" dirty="0"/>
              <a:t>運維成本優化。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1"/>
                </a:solidFill>
              </a:rPr>
              <a:t>AgentCore</a:t>
            </a:r>
            <a:r>
              <a:rPr lang="en-US" dirty="0">
                <a:solidFill>
                  <a:schemeClr val="tx1"/>
                </a:solidFill>
              </a:rPr>
              <a:t> Gateway</a:t>
            </a:r>
            <a:r>
              <a:rPr lang="en-US" dirty="0"/>
              <a:t> (</a:t>
            </a:r>
            <a:r>
              <a:rPr lang="zh-TW" altLang="en-US" dirty="0"/>
              <a:t>工具與 </a:t>
            </a:r>
            <a:r>
              <a:rPr lang="en-US" dirty="0"/>
              <a:t>MCP </a:t>
            </a:r>
            <a:r>
              <a:rPr lang="zh-TW" altLang="en-US" dirty="0"/>
              <a:t>層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</a:p>
          <a:p>
            <a:pPr lvl="1">
              <a:lnSpc>
                <a:spcPct val="150000"/>
              </a:lnSpc>
            </a:pPr>
            <a:r>
              <a:rPr lang="zh-TW" altLang="en-US" dirty="0"/>
              <a:t>用戶管理的 </a:t>
            </a:r>
            <a:r>
              <a:rPr lang="en-US" dirty="0"/>
              <a:t>MCP Tools </a:t>
            </a:r>
            <a:r>
              <a:rPr lang="zh-TW" altLang="en-US" dirty="0"/>
              <a:t>與 </a:t>
            </a:r>
            <a:r>
              <a:rPr lang="en-US" dirty="0"/>
              <a:t>Skills（</a:t>
            </a:r>
            <a:r>
              <a:rPr lang="zh-TW" altLang="en-US" dirty="0"/>
              <a:t>實質上是 </a:t>
            </a:r>
            <a:r>
              <a:rPr lang="en-US" dirty="0"/>
              <a:t>API </a:t>
            </a:r>
            <a:r>
              <a:rPr lang="zh-TW" altLang="en-US" dirty="0"/>
              <a:t>或 </a:t>
            </a:r>
            <a:r>
              <a:rPr lang="en-US" dirty="0"/>
              <a:t>Lambda）</a:t>
            </a:r>
            <a:r>
              <a:rPr lang="zh-TW" altLang="en-US" dirty="0"/>
              <a:t>都掛載到 </a:t>
            </a:r>
            <a:r>
              <a:rPr lang="en-US" dirty="0"/>
              <a:t>Gateway </a:t>
            </a:r>
            <a:r>
              <a:rPr lang="zh-TW" altLang="en-US" dirty="0"/>
              <a:t>下。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MCP </a:t>
            </a:r>
            <a:r>
              <a:rPr lang="zh-TW" altLang="en-US" dirty="0"/>
              <a:t>整合 </a:t>
            </a:r>
            <a:r>
              <a:rPr lang="en-US" altLang="zh-TW" dirty="0"/>
              <a:t>- </a:t>
            </a:r>
            <a:r>
              <a:rPr lang="en-US" dirty="0"/>
              <a:t>Gateway </a:t>
            </a:r>
            <a:r>
              <a:rPr lang="zh-TW" altLang="en-US" dirty="0"/>
              <a:t>原生支持 </a:t>
            </a:r>
            <a:r>
              <a:rPr lang="en-US" dirty="0"/>
              <a:t>Model Context Protocol (MCP)。</a:t>
            </a:r>
            <a:r>
              <a:rPr lang="zh-TW" altLang="en-US" dirty="0"/>
              <a:t>你可以將外部工具伺服器註冊為 </a:t>
            </a:r>
            <a:r>
              <a:rPr lang="en-US" dirty="0"/>
              <a:t>Gateway Target ，Agent </a:t>
            </a:r>
            <a:r>
              <a:rPr lang="zh-TW" altLang="en-US" dirty="0"/>
              <a:t>只需要透過語義搜尋就能找到對應的 </a:t>
            </a:r>
            <a:r>
              <a:rPr lang="en-US" dirty="0"/>
              <a:t>Tool。</a:t>
            </a:r>
            <a:r>
              <a:rPr lang="zh-TW" altLang="zh-TW" dirty="0"/>
              <a:t>開源社群有大量現成的</a:t>
            </a:r>
            <a:r>
              <a:rPr lang="en-US" altLang="zh-TW" dirty="0"/>
              <a:t> MCP Servers</a:t>
            </a:r>
            <a:r>
              <a:rPr lang="zh-TW" altLang="zh-TW" dirty="0"/>
              <a:t>（如</a:t>
            </a:r>
            <a:r>
              <a:rPr lang="en-US" altLang="zh-TW" dirty="0"/>
              <a:t> Google Search, GitHub, Slack</a:t>
            </a:r>
            <a:r>
              <a:rPr lang="zh-TW" altLang="zh-TW" dirty="0"/>
              <a:t>）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altLang="zh-TW" dirty="0" err="1"/>
              <a:t>CreateGatewayTarget</a:t>
            </a:r>
            <a:r>
              <a:rPr lang="en-US" altLang="zh-TW" dirty="0"/>
              <a:t> API - </a:t>
            </a:r>
            <a:r>
              <a:rPr lang="zh-TW" altLang="zh-TW" dirty="0"/>
              <a:t>將該工具的</a:t>
            </a:r>
            <a:r>
              <a:rPr lang="en-US" altLang="zh-TW" dirty="0"/>
              <a:t> MCP Endpoint </a:t>
            </a:r>
            <a:r>
              <a:rPr lang="zh-TW" altLang="zh-TW" dirty="0"/>
              <a:t>綁定到該用戶的</a:t>
            </a:r>
            <a:r>
              <a:rPr lang="en-US" altLang="zh-TW" dirty="0"/>
              <a:t> </a:t>
            </a:r>
            <a:r>
              <a:rPr lang="en-US" altLang="zh-TW" dirty="0" err="1"/>
              <a:t>AgentCore</a:t>
            </a:r>
            <a:r>
              <a:rPr lang="en-US" altLang="zh-TW" dirty="0"/>
              <a:t> </a:t>
            </a:r>
            <a:r>
              <a:rPr lang="zh-TW" altLang="zh-TW" dirty="0"/>
              <a:t>環境中。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1"/>
                </a:solidFill>
              </a:rPr>
              <a:t>AgentCore</a:t>
            </a:r>
            <a:r>
              <a:rPr lang="en-US" dirty="0">
                <a:solidFill>
                  <a:schemeClr val="tx1"/>
                </a:solidFill>
              </a:rPr>
              <a:t> Identity </a:t>
            </a:r>
            <a:r>
              <a:rPr lang="en-US" dirty="0"/>
              <a:t>(</a:t>
            </a:r>
            <a:r>
              <a:rPr lang="zh-TW" altLang="en-US" dirty="0"/>
              <a:t>身分與權限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</a:p>
          <a:p>
            <a:pPr lvl="1">
              <a:lnSpc>
                <a:spcPct val="150000"/>
              </a:lnSpc>
            </a:pPr>
            <a:r>
              <a:rPr lang="zh-TW" altLang="en-US" dirty="0"/>
              <a:t>管理用戶對 </a:t>
            </a:r>
            <a:r>
              <a:rPr lang="en-US" dirty="0"/>
              <a:t>Tools </a:t>
            </a:r>
            <a:r>
              <a:rPr lang="zh-TW" altLang="en-US" dirty="0"/>
              <a:t>的訪問權限。例如：用戶 </a:t>
            </a:r>
            <a:r>
              <a:rPr lang="en-US" dirty="0"/>
              <a:t>A </a:t>
            </a:r>
            <a:r>
              <a:rPr lang="zh-TW" altLang="en-US" dirty="0"/>
              <a:t>購買了「財務分析 </a:t>
            </a:r>
            <a:r>
              <a:rPr lang="en-US" dirty="0"/>
              <a:t>Skill」，Identity </a:t>
            </a:r>
            <a:r>
              <a:rPr lang="zh-TW" altLang="en-US" dirty="0"/>
              <a:t>層會發放對應的 </a:t>
            </a:r>
            <a:r>
              <a:rPr lang="en-US" dirty="0"/>
              <a:t>Credential </a:t>
            </a:r>
            <a:r>
              <a:rPr lang="zh-TW" altLang="en-US" dirty="0"/>
              <a:t>給該用戶的 </a:t>
            </a:r>
            <a:r>
              <a:rPr lang="en-US" dirty="0"/>
              <a:t>Agent。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1"/>
                </a:solidFill>
              </a:rPr>
              <a:t>AgentCore</a:t>
            </a:r>
            <a:r>
              <a:rPr lang="en-US" dirty="0">
                <a:solidFill>
                  <a:schemeClr val="tx1"/>
                </a:solidFill>
              </a:rPr>
              <a:t> Memory </a:t>
            </a:r>
          </a:p>
          <a:p>
            <a:pPr lvl="1">
              <a:lnSpc>
                <a:spcPct val="150000"/>
              </a:lnSpc>
            </a:pPr>
            <a:r>
              <a:rPr lang="zh-TW" altLang="en-US" dirty="0"/>
              <a:t>為該用戶建立專屬的 </a:t>
            </a:r>
            <a:r>
              <a:rPr lang="en-US" dirty="0"/>
              <a:t>Session </a:t>
            </a:r>
            <a:r>
              <a:rPr lang="zh-TW" altLang="en-US" dirty="0"/>
              <a:t>儲存（實現長期記憶）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B330BD-7D7F-4FB2-8BA6-C5E0B77D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AWS API/</a:t>
            </a:r>
            <a:r>
              <a:rPr lang="zh-TW" altLang="en-US" dirty="0"/>
              <a:t> </a:t>
            </a:r>
            <a:r>
              <a:rPr lang="en-US" altLang="zh-TW" dirty="0"/>
              <a:t>Lambda</a:t>
            </a:r>
            <a:r>
              <a:rPr lang="zh-TW" altLang="en-US" dirty="0"/>
              <a:t>註冊成為</a:t>
            </a:r>
            <a:r>
              <a:rPr lang="en-US" altLang="zh-TW" dirty="0"/>
              <a:t>Marketplace</a:t>
            </a:r>
            <a:r>
              <a:rPr lang="zh-TW" altLang="en-US" dirty="0"/>
              <a:t>的</a:t>
            </a:r>
            <a:r>
              <a:rPr lang="en-US" altLang="zh-TW" dirty="0"/>
              <a:t>MCP Tools?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35AD05D-AF5A-4BFF-9DAB-627B670EF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700" cy="4999078"/>
          </a:xfrm>
        </p:spPr>
        <p:txBody>
          <a:bodyPr>
            <a:normAutofit fontScale="85000" lnSpcReduction="10000"/>
          </a:bodyPr>
          <a:lstStyle/>
          <a:p>
            <a:pPr marL="76200" indent="0">
              <a:buNone/>
            </a:pPr>
            <a:r>
              <a:rPr lang="zh-TW" altLang="en-US" dirty="0"/>
              <a:t>若</a:t>
            </a:r>
            <a:r>
              <a:rPr lang="en-US" altLang="zh-TW" dirty="0"/>
              <a:t>AWS</a:t>
            </a:r>
            <a:r>
              <a:rPr lang="zh-TW" altLang="en-US" dirty="0"/>
              <a:t>上有現成的</a:t>
            </a:r>
            <a:r>
              <a:rPr lang="en-US" altLang="zh-TW" dirty="0"/>
              <a:t>API</a:t>
            </a:r>
            <a:r>
              <a:rPr lang="zh-TW" altLang="en-US" dirty="0"/>
              <a:t>或</a:t>
            </a:r>
            <a:r>
              <a:rPr lang="en-US" altLang="zh-TW" dirty="0"/>
              <a:t>Lambda</a:t>
            </a:r>
            <a:r>
              <a:rPr lang="zh-TW" altLang="en-US" dirty="0"/>
              <a:t>時，亦可當作</a:t>
            </a:r>
            <a:r>
              <a:rPr lang="en-US" altLang="zh-TW" dirty="0"/>
              <a:t>MCP Tools</a:t>
            </a:r>
            <a:r>
              <a:rPr lang="zh-TW" altLang="en-US" dirty="0"/>
              <a:t>註冊在</a:t>
            </a:r>
            <a:r>
              <a:rPr lang="en-US" altLang="zh-TW" dirty="0"/>
              <a:t>Marketplace</a:t>
            </a:r>
            <a:r>
              <a:rPr lang="zh-TW" altLang="en-US" dirty="0"/>
              <a:t>上。</a:t>
            </a:r>
            <a:endParaRPr lang="en-US" altLang="zh-TW" dirty="0"/>
          </a:p>
          <a:p>
            <a:pPr marL="76200" indent="0">
              <a:buNone/>
            </a:pPr>
            <a:r>
              <a:rPr lang="zh-TW" altLang="en-US" dirty="0"/>
              <a:t>關鍵 </a:t>
            </a:r>
            <a:r>
              <a:rPr lang="en-US" altLang="zh-TW" dirty="0"/>
              <a:t>- </a:t>
            </a:r>
            <a:r>
              <a:rPr lang="zh-TW" altLang="en-US" dirty="0"/>
              <a:t>建立一個 「</a:t>
            </a:r>
            <a:r>
              <a:rPr lang="en-US" altLang="zh-TW" dirty="0"/>
              <a:t>MCP </a:t>
            </a:r>
            <a:r>
              <a:rPr lang="zh-TW" altLang="en-US" dirty="0"/>
              <a:t>橋接器 </a:t>
            </a:r>
            <a:r>
              <a:rPr lang="en-US" altLang="zh-TW" dirty="0"/>
              <a:t>(MCP Host/Server)</a:t>
            </a:r>
            <a:r>
              <a:rPr lang="zh-TW" altLang="en-US" dirty="0"/>
              <a:t>」</a:t>
            </a:r>
            <a:endParaRPr lang="en-US" altLang="zh-TW" dirty="0"/>
          </a:p>
          <a:p>
            <a:pPr marL="533400" indent="-457200">
              <a:buFont typeface="+mj-lt"/>
              <a:buAutoNum type="arabicPeriod"/>
            </a:pPr>
            <a:r>
              <a:rPr lang="zh-TW" altLang="en-US" dirty="0"/>
              <a:t>核心整合模型：</a:t>
            </a:r>
            <a:r>
              <a:rPr lang="en-US" altLang="zh-TW" dirty="0"/>
              <a:t>Lambda </a:t>
            </a:r>
            <a:r>
              <a:rPr lang="zh-TW" altLang="en-US" dirty="0"/>
              <a:t>轉 </a:t>
            </a:r>
            <a:r>
              <a:rPr lang="en-US" altLang="zh-TW" dirty="0"/>
              <a:t>MCP Tool</a:t>
            </a:r>
          </a:p>
          <a:p>
            <a:pPr lvl="1"/>
            <a:r>
              <a:rPr lang="zh-TW" altLang="en-US" dirty="0"/>
              <a:t>透過 </a:t>
            </a:r>
            <a:r>
              <a:rPr lang="en-US" altLang="zh-TW" dirty="0" err="1"/>
              <a:t>AgentCore</a:t>
            </a:r>
            <a:r>
              <a:rPr lang="en-US" altLang="zh-TW" dirty="0"/>
              <a:t> Gateway </a:t>
            </a:r>
            <a:r>
              <a:rPr lang="zh-TW" altLang="en-US" dirty="0"/>
              <a:t>的 </a:t>
            </a:r>
            <a:r>
              <a:rPr lang="en-US" altLang="zh-TW" dirty="0"/>
              <a:t>Target </a:t>
            </a:r>
            <a:r>
              <a:rPr lang="zh-TW" altLang="en-US" dirty="0"/>
              <a:t>定義，將 </a:t>
            </a:r>
            <a:r>
              <a:rPr lang="en-US" altLang="zh-TW" dirty="0"/>
              <a:t>Lambda </a:t>
            </a:r>
            <a:r>
              <a:rPr lang="zh-TW" altLang="en-US" dirty="0"/>
              <a:t>封裝</a:t>
            </a:r>
            <a:r>
              <a:rPr lang="en-US" altLang="zh-TW" dirty="0"/>
              <a:t>:</a:t>
            </a:r>
          </a:p>
          <a:p>
            <a:pPr lvl="2"/>
            <a:r>
              <a:rPr lang="zh-TW" altLang="zh-TW" dirty="0"/>
              <a:t>編寫工具定義</a:t>
            </a:r>
            <a:r>
              <a:rPr lang="en-US" altLang="zh-TW" dirty="0"/>
              <a:t> (Tool Definition)</a:t>
            </a:r>
          </a:p>
          <a:p>
            <a:pPr lvl="2"/>
            <a:r>
              <a:rPr lang="zh-TW" altLang="en-US" dirty="0"/>
              <a:t>使用 </a:t>
            </a:r>
            <a:r>
              <a:rPr lang="en-US" altLang="zh-TW" dirty="0" err="1"/>
              <a:t>AgentCore</a:t>
            </a:r>
            <a:r>
              <a:rPr lang="en-US" altLang="zh-TW" dirty="0"/>
              <a:t> Gateway </a:t>
            </a:r>
            <a:r>
              <a:rPr lang="zh-TW" altLang="en-US" dirty="0"/>
              <a:t>註冊 </a:t>
            </a:r>
            <a:r>
              <a:rPr lang="en-US" altLang="zh-TW" dirty="0"/>
              <a:t>Target</a:t>
            </a:r>
          </a:p>
          <a:p>
            <a:pPr marL="533400" indent="-457200">
              <a:buFont typeface="+mj-lt"/>
              <a:buAutoNum type="arabicPeriod"/>
            </a:pPr>
            <a:r>
              <a:rPr lang="zh-TW" altLang="zh-TW" dirty="0"/>
              <a:t>實作</a:t>
            </a:r>
            <a:r>
              <a:rPr lang="en-US" altLang="zh-TW" dirty="0"/>
              <a:t> MCP </a:t>
            </a:r>
            <a:r>
              <a:rPr lang="zh-TW" altLang="zh-TW" dirty="0"/>
              <a:t>協議適配</a:t>
            </a:r>
            <a:r>
              <a:rPr lang="en-US" altLang="zh-TW" dirty="0"/>
              <a:t> (The MCP Adapter)</a:t>
            </a:r>
          </a:p>
          <a:p>
            <a:pPr lvl="1"/>
            <a:r>
              <a:rPr lang="en-US" altLang="zh-TW" dirty="0"/>
              <a:t>MCP </a:t>
            </a:r>
            <a:r>
              <a:rPr lang="zh-TW" altLang="en-US" dirty="0"/>
              <a:t>要求工具具備「列出清單 </a:t>
            </a:r>
            <a:r>
              <a:rPr lang="en-US" altLang="zh-TW" dirty="0"/>
              <a:t>(</a:t>
            </a:r>
            <a:r>
              <a:rPr lang="en-US" altLang="zh-TW" dirty="0" err="1"/>
              <a:t>list_tools</a:t>
            </a:r>
            <a:r>
              <a:rPr lang="en-US" altLang="zh-TW" dirty="0"/>
              <a:t>)</a:t>
            </a:r>
            <a:r>
              <a:rPr lang="zh-TW" altLang="en-US" dirty="0"/>
              <a:t>」與「執行 </a:t>
            </a:r>
            <a:r>
              <a:rPr lang="en-US" altLang="zh-TW" dirty="0"/>
              <a:t>(</a:t>
            </a:r>
            <a:r>
              <a:rPr lang="en-US" altLang="zh-TW" dirty="0" err="1"/>
              <a:t>call_tool</a:t>
            </a:r>
            <a:r>
              <a:rPr lang="en-US" altLang="zh-TW" dirty="0"/>
              <a:t>)</a:t>
            </a:r>
            <a:r>
              <a:rPr lang="zh-TW" altLang="en-US" dirty="0"/>
              <a:t>」的能力。</a:t>
            </a:r>
            <a:r>
              <a:rPr lang="zh-TW" altLang="zh-TW" dirty="0"/>
              <a:t>針對</a:t>
            </a:r>
            <a:r>
              <a:rPr lang="en-US" altLang="zh-TW" dirty="0"/>
              <a:t> AWS </a:t>
            </a:r>
            <a:r>
              <a:rPr lang="zh-TW" altLang="zh-TW" dirty="0"/>
              <a:t>資源，你有兩種做法：</a:t>
            </a:r>
            <a:endParaRPr lang="en-US" altLang="zh-TW" dirty="0"/>
          </a:p>
          <a:p>
            <a:pPr marL="1479550" lvl="2" indent="-457200">
              <a:buFont typeface="+mj-lt"/>
              <a:buAutoNum type="arabicPeriod"/>
            </a:pPr>
            <a:r>
              <a:rPr lang="zh-TW" altLang="en-US" dirty="0"/>
              <a:t>方案一：</a:t>
            </a:r>
            <a:r>
              <a:rPr lang="en-US" altLang="zh-TW" dirty="0"/>
              <a:t>Serverless MCP Bridge (</a:t>
            </a:r>
            <a:r>
              <a:rPr lang="zh-TW" altLang="en-US" dirty="0"/>
              <a:t>開發一個統一的 </a:t>
            </a:r>
            <a:r>
              <a:rPr lang="en-US" altLang="zh-TW" dirty="0"/>
              <a:t>MCP Bridge Lambda)</a:t>
            </a:r>
          </a:p>
          <a:p>
            <a:pPr marL="1479550" lvl="2" indent="-457200">
              <a:buFont typeface="+mj-lt"/>
              <a:buAutoNum type="arabicPeriod"/>
            </a:pPr>
            <a:r>
              <a:rPr lang="zh-TW" altLang="zh-TW" dirty="0"/>
              <a:t>方案二：利用</a:t>
            </a:r>
            <a:r>
              <a:rPr lang="en-US" altLang="zh-TW" dirty="0"/>
              <a:t> </a:t>
            </a:r>
            <a:r>
              <a:rPr lang="en-US" altLang="zh-TW" dirty="0" err="1"/>
              <a:t>AgentCore</a:t>
            </a:r>
            <a:r>
              <a:rPr lang="en-US" altLang="zh-TW" dirty="0"/>
              <a:t> Native Integration</a:t>
            </a:r>
          </a:p>
          <a:p>
            <a:pPr marL="565150" indent="-457200">
              <a:buFont typeface="+mj-lt"/>
              <a:buAutoNum type="arabicPeriod"/>
            </a:pPr>
            <a:r>
              <a:rPr lang="en-US" altLang="zh-TW" dirty="0"/>
              <a:t>Marketplace </a:t>
            </a:r>
            <a:r>
              <a:rPr lang="zh-TW" altLang="zh-TW" dirty="0"/>
              <a:t>的權限與安全設計</a:t>
            </a:r>
            <a:r>
              <a:rPr lang="en-US" altLang="zh-TW" dirty="0"/>
              <a:t> (IAM &amp; Identity)</a:t>
            </a:r>
          </a:p>
          <a:p>
            <a:pPr lvl="1"/>
            <a:r>
              <a:rPr lang="zh-TW" altLang="en-US" dirty="0"/>
              <a:t>不能讓 </a:t>
            </a:r>
            <a:r>
              <a:rPr lang="en-US" altLang="zh-TW" dirty="0"/>
              <a:t>Agent </a:t>
            </a:r>
            <a:r>
              <a:rPr lang="zh-TW" altLang="en-US" dirty="0"/>
              <a:t>擁有萬能權限。</a:t>
            </a:r>
            <a:endParaRPr lang="en-US" altLang="zh-TW" dirty="0"/>
          </a:p>
          <a:p>
            <a:pPr marL="533400" indent="-457200">
              <a:buFont typeface="+mj-lt"/>
              <a:buAutoNum type="arabicPeriod"/>
            </a:pPr>
            <a:r>
              <a:rPr lang="zh-TW" altLang="en-US" dirty="0"/>
              <a:t>上架自動化流程 </a:t>
            </a:r>
            <a:r>
              <a:rPr lang="en-US" altLang="zh-TW" dirty="0"/>
              <a:t>(The Provider Portal)</a:t>
            </a:r>
          </a:p>
          <a:p>
            <a:pPr marL="1022350" lvl="1" indent="-457200">
              <a:buFont typeface="+mj-lt"/>
              <a:buAutoNum type="arabicPeriod"/>
            </a:pPr>
            <a:r>
              <a:rPr lang="zh-TW" altLang="en-US" dirty="0"/>
              <a:t>開發者上傳：提供 </a:t>
            </a:r>
            <a:r>
              <a:rPr lang="en-US" altLang="zh-TW" dirty="0"/>
              <a:t>Lambda ARN </a:t>
            </a:r>
            <a:r>
              <a:rPr lang="zh-TW" altLang="en-US" dirty="0"/>
              <a:t>或 </a:t>
            </a:r>
            <a:r>
              <a:rPr lang="en-US" altLang="zh-TW" dirty="0" err="1"/>
              <a:t>OpenAPI</a:t>
            </a:r>
            <a:r>
              <a:rPr lang="en-US" altLang="zh-TW" dirty="0"/>
              <a:t> URL</a:t>
            </a:r>
            <a:r>
              <a:rPr lang="zh-TW" altLang="en-US" dirty="0"/>
              <a:t>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zh-TW" altLang="en-US" dirty="0"/>
              <a:t>自動校驗：系統檢查該 </a:t>
            </a:r>
            <a:r>
              <a:rPr lang="en-US" altLang="zh-TW" dirty="0"/>
              <a:t>Lambda </a:t>
            </a:r>
            <a:r>
              <a:rPr lang="zh-TW" altLang="en-US" dirty="0"/>
              <a:t>是否符合 </a:t>
            </a:r>
            <a:r>
              <a:rPr lang="en-US" altLang="zh-TW" dirty="0"/>
              <a:t>MCP </a:t>
            </a:r>
            <a:r>
              <a:rPr lang="zh-TW" altLang="en-US" dirty="0"/>
              <a:t>的 </a:t>
            </a:r>
            <a:r>
              <a:rPr lang="en-US" altLang="zh-TW" dirty="0" err="1"/>
              <a:t>Input/Output</a:t>
            </a:r>
            <a:r>
              <a:rPr lang="en-US" altLang="zh-TW" dirty="0"/>
              <a:t> </a:t>
            </a:r>
            <a:r>
              <a:rPr lang="zh-TW" altLang="en-US" dirty="0"/>
              <a:t>規範。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zh-TW" altLang="en-US" dirty="0"/>
              <a:t>自動封裝：系統自動在 </a:t>
            </a:r>
            <a:r>
              <a:rPr lang="en-US" altLang="zh-TW" dirty="0" err="1"/>
              <a:t>AgentCore</a:t>
            </a:r>
            <a:r>
              <a:rPr lang="en-US" altLang="zh-TW" dirty="0"/>
              <a:t> Gateway </a:t>
            </a:r>
            <a:r>
              <a:rPr lang="zh-TW" altLang="en-US" dirty="0"/>
              <a:t>建立一個新的 </a:t>
            </a:r>
            <a:r>
              <a:rPr lang="en-US" altLang="zh-TW" dirty="0" err="1"/>
              <a:t>GatewayTarget</a:t>
            </a:r>
            <a:r>
              <a:rPr lang="zh-TW" altLang="en-US" dirty="0"/>
              <a:t>。</a:t>
            </a:r>
          </a:p>
          <a:p>
            <a:pPr marL="1022350" lvl="1" indent="-457200">
              <a:buFont typeface="+mj-lt"/>
              <a:buAutoNum type="arabicPeriod"/>
            </a:pPr>
            <a:r>
              <a:rPr lang="zh-TW" altLang="en-US" dirty="0"/>
              <a:t>生成 </a:t>
            </a:r>
            <a:r>
              <a:rPr lang="en-US" altLang="zh-TW" dirty="0"/>
              <a:t>Policy</a:t>
            </a:r>
            <a:r>
              <a:rPr lang="zh-TW" altLang="en-US" dirty="0"/>
              <a:t>：自動產生一段 </a:t>
            </a:r>
            <a:r>
              <a:rPr lang="en-US" altLang="zh-TW" dirty="0"/>
              <a:t>Cedar Policy</a:t>
            </a:r>
            <a:r>
              <a:rPr lang="zh-TW" altLang="en-US" dirty="0"/>
              <a:t>，規定只有購買該 </a:t>
            </a:r>
            <a:r>
              <a:rPr lang="en-US" altLang="zh-TW" dirty="0"/>
              <a:t>Skill </a:t>
            </a:r>
            <a:r>
              <a:rPr lang="zh-TW" altLang="en-US" dirty="0"/>
              <a:t>的用戶 </a:t>
            </a:r>
            <a:r>
              <a:rPr lang="en-US" altLang="zh-TW" dirty="0"/>
              <a:t>Agent </a:t>
            </a:r>
            <a:r>
              <a:rPr lang="zh-TW" altLang="en-US" dirty="0"/>
              <a:t>才能調用此 </a:t>
            </a:r>
            <a:r>
              <a:rPr lang="en-US" altLang="zh-TW" dirty="0"/>
              <a:t>Target</a:t>
            </a:r>
            <a:r>
              <a:rPr lang="zh-TW" altLang="en-US" dirty="0"/>
              <a:t>。</a:t>
            </a:r>
          </a:p>
          <a:p>
            <a:pPr lvl="1"/>
            <a:endParaRPr lang="zh-TW" altLang="zh-TW" dirty="0"/>
          </a:p>
          <a:p>
            <a:pPr marL="1479550" lvl="2" indent="-45720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122480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2169</Words>
  <Application>Microsoft Office PowerPoint</Application>
  <PresentationFormat>寬螢幕</PresentationFormat>
  <Paragraphs>226</Paragraphs>
  <Slides>21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0" baseType="lpstr">
      <vt:lpstr>Inter Medium</vt:lpstr>
      <vt:lpstr>Times New Roman</vt:lpstr>
      <vt:lpstr>Inter</vt:lpstr>
      <vt:lpstr>新細明體</vt:lpstr>
      <vt:lpstr>DM Sans</vt:lpstr>
      <vt:lpstr>Arial</vt:lpstr>
      <vt:lpstr>Calibri</vt:lpstr>
      <vt:lpstr>Urbanist</vt:lpstr>
      <vt:lpstr>Simple Dark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Agent上架Marketplace</vt:lpstr>
      <vt:lpstr>Agent上架Marketplace</vt:lpstr>
      <vt:lpstr>Agent上架Marketplace</vt:lpstr>
      <vt:lpstr>用戶與Agent對話流程</vt:lpstr>
      <vt:lpstr>MCP Tool Call</vt:lpstr>
      <vt:lpstr>AgentCore Gateway &amp; AI Gateway角色</vt:lpstr>
      <vt:lpstr>PowerPoint 簡報</vt:lpstr>
      <vt:lpstr>PowerPoint 簡報</vt:lpstr>
      <vt:lpstr>PowerPoint 簡報</vt:lpstr>
      <vt:lpstr>PowerPoint 簡報</vt:lpstr>
      <vt:lpstr>用戶在Marketplace申請Agent</vt:lpstr>
      <vt:lpstr>AgenCore生態系統</vt:lpstr>
      <vt:lpstr>AWS API/ Lambda註冊成為Marketplace的MCP Tools?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pierre hsia</dc:creator>
  <cp:lastModifiedBy>pierre hsia</cp:lastModifiedBy>
  <cp:revision>107</cp:revision>
  <dcterms:modified xsi:type="dcterms:W3CDTF">2026-03-27T01:11:36Z</dcterms:modified>
</cp:coreProperties>
</file>